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537" r:id="rId4"/>
    <p:sldId id="259" r:id="rId5"/>
    <p:sldId id="260" r:id="rId6"/>
    <p:sldId id="536" r:id="rId7"/>
    <p:sldId id="538" r:id="rId8"/>
    <p:sldId id="272" r:id="rId9"/>
    <p:sldId id="273" r:id="rId10"/>
    <p:sldId id="543" r:id="rId11"/>
    <p:sldId id="539" r:id="rId12"/>
    <p:sldId id="540" r:id="rId13"/>
    <p:sldId id="541" r:id="rId14"/>
    <p:sldId id="542" r:id="rId15"/>
    <p:sldId id="544" r:id="rId16"/>
    <p:sldId id="26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1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7247" autoAdjust="0"/>
  </p:normalViewPr>
  <p:slideViewPr>
    <p:cSldViewPr snapToGrid="0">
      <p:cViewPr varScale="1">
        <p:scale>
          <a:sx n="77" d="100"/>
          <a:sy n="77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1E9D7-6F2A-46B7-8BFB-EF3E05BA63D2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C14E86-1EE3-4CB9-94E5-BEA2F933F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50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dirty="0"/>
              <a:t>抑郁症的临床治疗，目前依然面临着一个非常残酷的‘</a:t>
            </a:r>
            <a:r>
              <a:rPr lang="zh-CN" altLang="zh-CN" b="1" dirty="0"/>
              <a:t>试错困境</a:t>
            </a:r>
            <a:r>
              <a:rPr lang="zh-CN" altLang="zh-CN" dirty="0"/>
              <a:t>’。</a:t>
            </a:r>
            <a:br>
              <a:rPr lang="zh-CN" altLang="zh-CN" dirty="0"/>
            </a:br>
            <a:r>
              <a:rPr lang="zh-CN" altLang="zh-CN" dirty="0"/>
              <a:t>当一位重度抑郁症患者来到诊室，我们给他开出第一张一线抗抑郁药处方时，</a:t>
            </a:r>
            <a:r>
              <a:rPr lang="zh-CN" altLang="zh-CN" b="1" dirty="0"/>
              <a:t>他能获得临床治愈的概率，其实只有可怜的 1/3</a:t>
            </a:r>
            <a:r>
              <a:rPr lang="zh-CN" altLang="zh-CN" dirty="0"/>
              <a:t>。</a:t>
            </a:r>
            <a:br>
              <a:rPr lang="zh-CN" altLang="zh-CN" dirty="0"/>
            </a:br>
            <a:r>
              <a:rPr lang="zh-CN" altLang="zh-CN" dirty="0"/>
              <a:t>剩下的 2/3 怎么办？我们只能等。因为抗抑郁药起效非常慢，临床上判定一个药到底有没有效，通常需要 </a:t>
            </a:r>
            <a:r>
              <a:rPr lang="zh-CN" altLang="zh-CN" b="1" dirty="0"/>
              <a:t>4 到 6 周</a:t>
            </a:r>
            <a:r>
              <a:rPr lang="zh-CN" altLang="zh-CN" dirty="0"/>
              <a:t>。</a:t>
            </a:r>
            <a:br>
              <a:rPr lang="zh-CN" altLang="zh-CN" dirty="0"/>
            </a:br>
            <a:r>
              <a:rPr lang="zh-CN" altLang="zh-CN" dirty="0"/>
              <a:t>这 6 周，对医生来说是一个无法窥探的‘</a:t>
            </a:r>
            <a:r>
              <a:rPr lang="zh-CN" altLang="zh-CN" b="1" dirty="0"/>
              <a:t>黑盒</a:t>
            </a:r>
            <a:r>
              <a:rPr lang="zh-CN" altLang="zh-CN" dirty="0"/>
              <a:t>’；但对患者来说，却是极其痛苦。这 6 周里，他们不仅要承受药物带来的副作用，还要面对病情随时恶化、甚至自杀的风险。</a:t>
            </a:r>
            <a:br>
              <a:rPr lang="zh-CN" altLang="zh-CN" dirty="0"/>
            </a:br>
            <a:r>
              <a:rPr lang="zh-CN" altLang="zh-CN" dirty="0"/>
              <a:t>我们迫切需要一种方法，能够在</a:t>
            </a:r>
            <a:r>
              <a:rPr lang="zh-CN" altLang="zh-CN" b="1" dirty="0"/>
              <a:t>治疗开始前的一天</a:t>
            </a:r>
            <a:r>
              <a:rPr lang="zh-CN" altLang="zh-CN" dirty="0"/>
              <a:t>，就通过客观的影像学手段，告诉我们：这个患者，到底是不是那幸运的 1/3？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14E86-1EE3-4CB9-94E5-BEA2F933FB6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570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既然要在治疗前进行预测，我们的目光自然锁定了抑郁症病理机制的核心脑区——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海马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那么，为什么是海马？正如这两篇发表在《Molecular Psychiatry》和《Biological Psychiatry》上的经典文献所指出的，海马是连接基础研究与临床转化的桥梁。在慢性应激下，患者会出现 HPA 轴功能失调、神经营养因子 BDNF 下降，最终导致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海马体积萎缩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神经发生受损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海马不仅是抑郁症病理损伤的‘重灾区’，更是药物发挥治疗作用的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关键靶点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。”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14E86-1EE3-4CB9-94E5-BEA2F933FB6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248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“那么，抗抑郁药到底是如何在海马起作用的？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这篇发表在《Science》上的里程碑式研究为我们揭示了答案：抗抑郁治疗的‘临床康复之路’（Road to Remission），本质上是一条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‘神经发生之路’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。药物能够促进海马齿状回（DG）等特定亚区的神经干细胞增殖与分化。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这提示我们，海马内部不同亚区的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微观结构变化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，直接映射了药物起效的生物学基础。因此，我们要预测疗效，就必须深入到海马的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微观亚区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中去。”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14E86-1EE3-4CB9-94E5-BEA2F933FB6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6300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“基于这一理论，我们在 2019 年发表于《JMRI》的前期研究中，尝试利用高分辨率 MRI 对海马亚区进行了精细分割。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我们发现，在首发未治疗的抑郁症患者中，治疗前 CA2/3、CA4/DG 以及下托（Subiculum）的体积，在早期应答者和非应答者之间存在显著差异。利用这些微观亚区体积，我们实现了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敏感度 76.9%、特异度 80%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的个体疗效预测。这证实了海马亚区作为预测标志物的巨大潜力。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但是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——（语气转折，抛出悬念）这种高度依赖高分辨率图像、极度消耗算力、且质控极难的‘微观亚区分割’，在临床实际落地中面临着巨大的瓶颈。我们真的需要这么复杂的微观分割吗？常规 T1 影像下的宏观分割是否已经足够？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这就是我们本项研究想要回答的核心问题。”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158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为了系统地回答这个问题，我们在本项研究中，对海马的分割策略进行了‘从微观到宏观’的全面重构。我们对比了三种不同的空间粒度：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第一种，是最微观的 Local 策略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（对应幻灯片中间的图 A）。我们基于横断面解剖，将海马精细地切分为 CA1、齿状回（GCL）、下托等 12 个精细亚区。这代表了目前学术界最热衷、但也最复杂的微观视角。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第二种，是中观的 Regional 策略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（对应图 B）。我们沿着海马的长轴，将其划分为头、体、尾（Head, Body, Tail）三个解剖区域。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第三种，是最宏观的 Composites 策略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（对应右侧的图 C）。我们通过解剖学聚合，构建了包括海马整体、Hippocampal Proper 在内的 7 个宏观聚合体。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这三种策略，代表了我们对海马‘空间分辨率’的不同抉择。接下来，我们将这三种维度的体积特征全部转化为标准化 Z-score，放入统一的机器学习框架中，去正面回答：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到底哪一种分割，才是最适合临床落地的抉择？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14E86-1EE3-4CB9-94E5-BEA2F933FB6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033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在方法学部分，本研究共纳入了 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56 例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重度抑郁症患者，以及 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 例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在年龄、性别上严格匹配的健康对照。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为了排除药物对脑结构的混杂影响，我们制订了严格的入组标准：所有 MDD 患者在基线扫描前，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均未接受过任何抗抑郁药物、心理或物理治疗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，处于首发、药用 naive 状态，且基线 HAMD 评分均大于 18 分，确保了队列的同质性。”</a:t>
            </a:r>
          </a:p>
          <a:p>
            <a:br>
              <a:rPr lang="zh-CN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14E86-1EE3-4CB9-94E5-BEA2F933FB6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824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CDBA89-AD4E-4070-A097-2A65BB19220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990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在基线完成高分辨率 3D-T1 磁共振扫描后，所有患者接受了为期 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 周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的标准化抗抑郁药物治疗。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在第 6 周结束时，我们使用 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HAMD 减分率（RRS）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来客观评估疗效。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我们将减分率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大于等于 50%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的患者界定为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应答者（RES，共 38 例）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；减分率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小于 50%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的界定为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非应答者（NRES，共 18 例）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14E86-1EE3-4CB9-94E5-BEA2F933FB6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586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这是我们研究的整体技术路线。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首先，在图像预处理阶段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（对应幻灯片上方）：我们输入原始的 3D-T1 结构像，利用 FreeSurfer 的 recon-all 标准流程进行脑区重建，并调用其专门的海马亚区分割模块，获得高精度的海马结构。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接着，我们构建了三种尺度的特征体系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（对应下方）：</a:t>
            </a:r>
          </a:p>
          <a:p>
            <a:pPr lvl="1"/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局部‘Parts’层面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，我们提取了沿横轴切分的 12 个 Local 亚区体积，以及沿长轴切分的头、体、尾 3 个 Regional 区域体积。</a:t>
            </a:r>
          </a:p>
          <a:p>
            <a:pPr lvl="1"/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全局‘Global’层面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，我们通过解剖学聚合，计算了包括海马形成（HF）在内的 7 个 Composite 复合体体积。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最后，我们从三个维度对这些特征进行系统评估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（对应右侧蓝色板块）：</a:t>
            </a:r>
          </a:p>
          <a:p>
            <a:pPr lvl="1"/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第一，进行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组间差异分析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，对比治疗有效组与无效组的体积差异；</a:t>
            </a:r>
          </a:p>
          <a:p>
            <a:pPr lvl="1"/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第二，进行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临床相关性分析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，探究基线体积与 HAMD 减分率的关系；</a:t>
            </a:r>
          </a:p>
          <a:p>
            <a:pPr lvl="1"/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第三，也是本研究的亮点，我们引入了前沿的 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TabPFN 算法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与传统机器学习进行对比，评估不同尺度特征在个体疗效预测中的 AUC 表现。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那么，这三种尺度的特征，究竟谁的表现更好？让我们来看具体的结果。”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14E86-1EE3-4CB9-94E5-BEA2F933FB6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202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接下来，我们来看本研究最核心的生物学发现。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请大家首先看到左侧的条形图，它展示了治疗有效组（RES）与无效组（NRES）在不同尺度下的体积效应量。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一个非常显著的特征是‘左侧偏侧化’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：所有的显著性差异（黄色条条）全部集中在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左侧海马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（图 c），而右侧海马（图 d）无一显著。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更重要的发现是‘宏观与微观的强烈对比’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：在左侧海马中，中观的 Regional 层面（如 Body、Tail）以及宏观的 Composite 层面（如海马整体 HF、HP），均通过了严格的 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FDR 多重比较校正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（黄色显示）。然而，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微观的 Local 亚区在 FDR 校正后全军覆没（全部呈灰色）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。这说明微观亚区由于体积过小、噪声过大，其组间信号被严重稀释。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右侧的雷达相关图进一步印证了这一规律。蓝色代表负相关，即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基线体积越小，后续减分率越高、疗效越好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。我们可以看到，左侧海马的宏观指标（如 HF、HP）以及后部区域（Body、Tail）与疗效呈现出极强的负相关性（带 * 号）。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这为临床提供了一个直观的生物学解释：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左后侧海马体积较小、处于‘亟待修复’状态的患者，对抗抑郁药物更敏感。而这个信号，宏观指标比微观亚区捕捉得更清晰、更稳健。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14E86-1EE3-4CB9-94E5-BEA2F933FB6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1233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那么，这些不同尺度的特征，在个体水平上的预测表现究竟如何？我们引入了前沿的 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TabPFN 算法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进行了验证。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请看左侧的 ROC 曲线：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表现最好的是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宏观 Composite 策略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（橙色线，左侧海马整体 L-HF），其预测 AUC 达到了 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0.72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其次是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中观 Regional 策略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（紫色线，双侧海马体部 Bilateral-body），AUC 为 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0.70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而学术界最推崇的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微观 Local 策略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（绿色线，左侧海马尾部 L-tail），其 AUC 仅为 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0.68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右侧的森林图更全面地展示了这一趋势。在所有参与预测的特征组合中，排在最上方的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宏观特征（如 L-HF、AI-HF）不仅 AUC 均值更高，而且置信区间更窄、预测表现更稳健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。相反，底部的微观亚区特征预测效能明显下滑。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这个预测结果给我们的临床转化带来了极大的启示：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‘Less is More’（大道至简）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。在常规临床 T1 影像下，我们完全不需要去追求高算力、高噪声、极难质控的微观亚区分割。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常规分割下的左侧海马整体体积，就已经足够提供最优、最稳健的疗效预测。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这为抗抑郁精准诊疗的基层落地，扫清了技术障碍。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14E86-1EE3-4CB9-94E5-BEA2F933FB6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8215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听到这里，大家可能会产生一个疑问：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为什么学术界如此推崇的微观亚区，在疗效预测中反而输给了宏观指标？</a:t>
            </a:r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为了从机制上回答这个问题，我们对 12 个微观亚区进行了主成分分析（PCA）降维。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首先，请看 Panel A 的载荷热图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。我们发现，这 12 个看似独立的微观亚区，在数学上高度坍缩。PC1 几乎强力载荷了包括 CA1、CA3、DG 在内的所有核心亚区。这表明，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微观亚区之间存在极高的共线性与信息冗余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，它们随海马整体呈现‘同进同退’的共变趋势。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那么，这些降维后的微观核心维度，是否与临床相关呢？答案是否定的。</a:t>
            </a:r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正如 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Panel B 和 C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所示，无论是 PC1 还是 PC2，在治疗有效和无效组之间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均没有任何显著差异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（p 均大于 0.2），且它们与临床症状减分率（RRS）也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毫无相关性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最后的 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Panel D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进一步证实，降维后的主成分效应量（黄色条柱）极低。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这组结果给我们的学术启示是：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微观分割并没有为疗效预测提供任何‘增量信息’。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相反，强行在常规 T1 图像上进行微观分割，只是把一个原本明确的宏观信号，拆分成了多个高度共线、且充满测量噪声的碎片。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这在数学上完美解释了，为什么‘大道至简’的宏观分割才是临床落地的更优抉择。”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14E86-1EE3-4CB9-94E5-BEA2F933FB6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1340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最后，我想用三句话来总结我们这项研究带给临床和学术界的启示：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第一，是‘大道至简’（Less is More）。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我们的数据表明，在常规 T1 影像下，左侧后部海马的宏观体积已经足够提供最优、最稳健的疗效预测。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第二，是破除‘越细越好’的学术迷思。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盲目追求微观亚区，在数学上被证实只是在拆分一个高度共线的宏观信号，并引入了更多噪声，无法提供临床增量价值。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第三，是真正可落地的精准医疗。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宏观特征结合免调参的 TabPFN 算法，构建了一套‘低算力、高质控、极简’的工作流。它让基层医院也能够‘今天扫描，明天预测’，真正让抑郁症患者在治疗的第一天，就看见治愈的希望。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以上就是我汇报的全部内容，感谢各位评委专家的聆听，请多指教，谢谢！”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14E86-1EE3-4CB9-94E5-BEA2F933FB6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795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6B46AE-9CAC-DE81-F3EA-F73A93767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7EFAEB-366C-6930-D88F-ADAE58615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7AED39-C103-6C5B-9304-6C2D5E9CD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FA18-56DD-4717-A152-7A0F7CA4DA8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CF735D-9FD6-AC50-F04B-2885ACA8D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E2B536-9089-1C56-6B8C-30CE9026F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C2AF-2FC6-4B3D-8571-68AAFDC30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220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F53DC6-2C12-CDDE-6908-E715929DF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04E15A-33A5-ABED-2BDA-4F2C1AA76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ABF0E1-D103-7874-098E-3F406F5D0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FA18-56DD-4717-A152-7A0F7CA4DA8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EC5ABD-9EEF-857A-EC9E-7B0871950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E41682-698F-751B-982A-BFC91B4F3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C2AF-2FC6-4B3D-8571-68AAFDC30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237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F8476-FD73-C293-E784-6D13C665F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CC146B-DF74-C6D0-F010-3D9E1B864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846A6E-5D1F-41CA-E731-B08133718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FA18-56DD-4717-A152-7A0F7CA4DA8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13E145-6908-7783-4491-BFDAAD6F8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05415C-3318-16CD-9ADC-C0D0836C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C2AF-2FC6-4B3D-8571-68AAFDC30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738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C82005-5A38-CE21-A73A-3F14A4105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DA360E-EF34-1EDE-AC1F-63250C5D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4CB5D9-2791-301F-BCEC-51EA9F841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E8719D-9176-DFD6-F20F-47598D5A8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FA18-56DD-4717-A152-7A0F7CA4DA8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186AB1-0233-2393-111A-861C9BD05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441445-C674-4F6A-340F-552B6587E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C2AF-2FC6-4B3D-8571-68AAFDC30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232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36A64B-1E89-AAB5-436E-DC3B3ECC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73FD15-FE91-D11E-8772-A5588C320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8B423F-C9A0-F421-848E-B2B18CE3E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8DAE5F8-ECF8-D785-1CDB-5BE389A3D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C82A7CE-8EA4-A0B6-AF9E-429C15E44E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3BC852-DFDF-C668-F179-70F524A34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FA18-56DD-4717-A152-7A0F7CA4DA8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C41CBD1-9D38-0621-FF6A-4A5E04257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E84134B-7C2C-8564-E16A-5A742E8E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C2AF-2FC6-4B3D-8571-68AAFDC30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520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2751A9-0DA0-7C28-4404-9B5069223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913E2B-1C83-BC9E-069E-423CBB479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FA18-56DD-4717-A152-7A0F7CA4DA8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010D7E-DE0A-213D-DA3C-E74BAF428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7C7B54-D238-6A0C-DD84-F9961A116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C2AF-2FC6-4B3D-8571-68AAFDC30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392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B6B0EF-D4EB-5306-5D0D-948FA8FE3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FA18-56DD-4717-A152-7A0F7CA4DA8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81ACA09-FE4D-8F3D-AF4D-C06502A06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FDE889-2B3B-DEB5-F28B-75319A740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C2AF-2FC6-4B3D-8571-68AAFDC30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529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37D019-CEBE-EE6A-0BC0-5934AB9A1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894987-ED29-FD04-4F1B-28254ECFB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DE2407-BD23-9C84-EA7B-BC3962A62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C1F2E2-1AEC-896C-BE9F-B1E6EE76A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FA18-56DD-4717-A152-7A0F7CA4DA8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4D2BDD-1BD0-CE29-63A0-77B7755C5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747708-DB30-92FD-DFFE-44F1CD095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C2AF-2FC6-4B3D-8571-68AAFDC30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778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3F3E7-FD9E-220A-75EE-27A43D3B6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B40CEF1-6680-2310-C82F-74B2B0DC53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E141ED-D7F6-AA20-CD96-A15A166E3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9F3164-F3D4-2A65-976D-D52EE5F56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FA18-56DD-4717-A152-7A0F7CA4DA8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6CE6E9-19BA-8F45-5BCF-4CD346786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AD96DA-DFD5-830E-3463-39708A57C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C2AF-2FC6-4B3D-8571-68AAFDC30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011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1CE44-30A4-33FF-A00A-A2E0E2172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AEF84AE-EE27-46AA-28BE-142071AB3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6CC10D-0154-3288-D7AC-996E434AB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FA18-56DD-4717-A152-7A0F7CA4DA8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E65E48-31D8-FE16-ACB8-AD30E2B22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66D5BE-4673-A8C1-7907-E28C8F4FB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C2AF-2FC6-4B3D-8571-68AAFDC30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769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562F7DF-497D-7A63-BDCA-23D15AC8D5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805424-A08B-8ADF-7579-7A707C4EB6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025A65-CA18-B1FA-63B5-3CEB04729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FA18-56DD-4717-A152-7A0F7CA4DA8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68B7BF-50FA-43D1-72F0-D7E7F335D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93A01E-0FC5-C781-517A-3B93085B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C2AF-2FC6-4B3D-8571-68AAFDC30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874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34AF9-1664-4634-98DD-8A193B72BA2B}" type="datetime1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632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981733-617A-E298-8D80-33F69FB02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E4A790-A22C-176F-8A01-C80E52700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4B003D-0EA5-7229-6E53-F49B36077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72FA18-56DD-4717-A152-7A0F7CA4DA8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EEE445-FDA6-DB19-153E-972F13A35B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6293CF-7537-FC17-EED7-4B0B85FB1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BC2AF-2FC6-4B3D-8571-68AAFDC30B4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BE6D869-F183-85DC-91C4-D3B8381B962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81" y="0"/>
            <a:ext cx="122095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65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julianahuang@163.com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C9E980-066E-3DBF-A1CA-3B9B59DEBE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D49635-94C8-2C88-983D-3D6947DCC2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46F41A8-91E1-7550-35C0-436553573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3"/>
            <a:ext cx="12192000" cy="685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409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54224-F782-4203-FAFE-422BAF458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21FD9E-AC52-B365-36FC-A686267A16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zh-CN" altLang="zh-CN" dirty="0"/>
            </a:b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0B9FD2-A79C-F602-FFBE-3C32AA504553}"/>
              </a:ext>
            </a:extLst>
          </p:cNvPr>
          <p:cNvSpPr txBox="1"/>
          <p:nvPr/>
        </p:nvSpPr>
        <p:spPr>
          <a:xfrm>
            <a:off x="1086866" y="1821492"/>
            <a:ext cx="85639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宏观还是微观？</a:t>
            </a:r>
            <a:b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lang="en-US" altLang="zh-CN" sz="4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TabPFN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的海马 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MRI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分割策略</a:t>
            </a:r>
            <a:b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与抗抑郁疗效预测抉择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DBF268-45B1-C14D-D70A-D452E8CADFB9}"/>
              </a:ext>
            </a:extLst>
          </p:cNvPr>
          <p:cNvSpPr txBox="1"/>
          <p:nvPr/>
        </p:nvSpPr>
        <p:spPr>
          <a:xfrm>
            <a:off x="1086866" y="4681015"/>
            <a:ext cx="66942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张帘青 博士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四川大学华西医院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中华医学会影像技术分会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2026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青年学术会议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智能影像专场</a:t>
            </a:r>
            <a:b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2026-05-31  10:31–10:39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雅叙厅</a:t>
            </a:r>
          </a:p>
        </p:txBody>
      </p:sp>
    </p:spTree>
    <p:extLst>
      <p:ext uri="{BB962C8B-B14F-4D97-AF65-F5344CB8AC3E}">
        <p14:creationId xmlns:p14="http://schemas.microsoft.com/office/powerpoint/2010/main" val="3853009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E98CD8-E67A-DCBC-0231-9CA9ADDC3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48" y="1096357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抗抑郁治疗的试错困境与时间成本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8AF198-9CD5-3F22-A7F3-763F6ABBF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15" y="3315665"/>
            <a:ext cx="7152789" cy="4351338"/>
          </a:xfrm>
        </p:spPr>
        <p:txBody>
          <a:bodyPr/>
          <a:lstStyle/>
          <a:p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在一线接受标准化抗抑郁药物（SSRI，如西酞普兰）治疗后，仅有 </a:t>
            </a:r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32.9%</a:t>
            </a:r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（约 1/3）的患者能达到</a:t>
            </a:r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临床临床治愈（Remission）</a:t>
            </a:r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  <a:p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即使放宽到</a:t>
            </a:r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临床有效（即症状减分 ）</a:t>
            </a:r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，比例也仅在 40%–47% 左右。</a:t>
            </a:r>
          </a:p>
          <a:p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这意味着，</a:t>
            </a:r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近 2/3 的患者在首次用药后是无效的</a:t>
            </a:r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，必须经历漫长的换药、联合用药过程。</a:t>
            </a:r>
          </a:p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84A858C-250E-4CF9-6B4F-F13EDD5B9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005" y="3886098"/>
            <a:ext cx="2811880" cy="26631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2F6FB8B-094E-B9C5-8C46-B833D34B0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1897" y="1096357"/>
            <a:ext cx="3735988" cy="259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039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D:/设计文档/3-2024年/PPT/2024年PPT模板/模板一/画板 4.png画板 4">
            <a:extLst>
              <a:ext uri="{FF2B5EF4-FFF2-40B4-BE49-F238E27FC236}">
                <a16:creationId xmlns:a16="http://schemas.microsoft.com/office/drawing/2014/main" id="{8C8088A4-D338-3B5C-1D46-45BF756C67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806" b="83009"/>
          <a:stretch>
            <a:fillRect/>
          </a:stretch>
        </p:blipFill>
        <p:spPr>
          <a:xfrm>
            <a:off x="0" y="6376670"/>
            <a:ext cx="12192000" cy="492760"/>
          </a:xfrm>
          <a:prstGeom prst="rect">
            <a:avLst/>
          </a:prstGeom>
        </p:spPr>
      </p:pic>
      <p:pic>
        <p:nvPicPr>
          <p:cNvPr id="7" name="图片 6" descr="2022印章-02">
            <a:extLst>
              <a:ext uri="{FF2B5EF4-FFF2-40B4-BE49-F238E27FC236}">
                <a16:creationId xmlns:a16="http://schemas.microsoft.com/office/drawing/2014/main" id="{41AA86D5-8D55-2A33-0F2D-AC7137608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40" y="4300220"/>
            <a:ext cx="369570" cy="389890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A4B0122-187C-FCE3-087C-EC3C0AF244EE}"/>
              </a:ext>
            </a:extLst>
          </p:cNvPr>
          <p:cNvCxnSpPr/>
          <p:nvPr/>
        </p:nvCxnSpPr>
        <p:spPr>
          <a:xfrm>
            <a:off x="644525" y="0"/>
            <a:ext cx="0" cy="233426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749820F-B3D7-EC67-73EF-FF4F2D68DCB6}"/>
              </a:ext>
            </a:extLst>
          </p:cNvPr>
          <p:cNvCxnSpPr/>
          <p:nvPr/>
        </p:nvCxnSpPr>
        <p:spPr>
          <a:xfrm>
            <a:off x="644525" y="4777740"/>
            <a:ext cx="0" cy="208407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02ED144-9703-7D96-C1EB-C64B7CD322F0}"/>
              </a:ext>
            </a:extLst>
          </p:cNvPr>
          <p:cNvSpPr txBox="1"/>
          <p:nvPr/>
        </p:nvSpPr>
        <p:spPr>
          <a:xfrm>
            <a:off x="424180" y="2334260"/>
            <a:ext cx="400685" cy="200406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 algn="ctr"/>
            <a:r>
              <a:rPr lang="zh-CN" altLang="en-US" sz="1200" b="1" spc="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思源宋体" panose="02020700000000000000" charset="-122"/>
                <a:ea typeface="思源宋体" panose="02020700000000000000" charset="-122"/>
                <a:sym typeface="+mn-ea"/>
              </a:rPr>
              <a:t>厚德</a:t>
            </a:r>
            <a:r>
              <a:rPr lang="en-US" altLang="zh-CN" sz="1200" b="1" spc="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思源宋体" panose="02020700000000000000" charset="-122"/>
                <a:ea typeface="思源宋体" panose="02020700000000000000" charset="-122"/>
                <a:sym typeface="+mn-ea"/>
              </a:rPr>
              <a:t>  </a:t>
            </a:r>
            <a:r>
              <a:rPr lang="zh-CN" altLang="en-US" sz="1200" b="1" spc="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思源宋体" panose="02020700000000000000" charset="-122"/>
                <a:ea typeface="思源宋体" panose="02020700000000000000" charset="-122"/>
                <a:sym typeface="+mn-ea"/>
              </a:rPr>
              <a:t>精业</a:t>
            </a:r>
            <a:r>
              <a:rPr lang="en-US" altLang="zh-CN" sz="1200" b="1" spc="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思源宋体" panose="02020700000000000000" charset="-122"/>
                <a:ea typeface="思源宋体" panose="02020700000000000000" charset="-122"/>
                <a:sym typeface="+mn-ea"/>
              </a:rPr>
              <a:t>  </a:t>
            </a:r>
            <a:r>
              <a:rPr lang="zh-CN" altLang="en-US" sz="1200" b="1" spc="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思源宋体" panose="02020700000000000000" charset="-122"/>
                <a:ea typeface="思源宋体" panose="02020700000000000000" charset="-122"/>
                <a:sym typeface="+mn-ea"/>
              </a:rPr>
              <a:t>求实</a:t>
            </a:r>
            <a:r>
              <a:rPr lang="en-US" altLang="zh-CN" sz="1200" b="1" spc="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思源宋体" panose="02020700000000000000" charset="-122"/>
                <a:ea typeface="思源宋体" panose="02020700000000000000" charset="-122"/>
                <a:sym typeface="+mn-ea"/>
              </a:rPr>
              <a:t>  </a:t>
            </a:r>
            <a:r>
              <a:rPr lang="zh-CN" altLang="en-US" sz="1200" b="1" spc="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思源宋体" panose="02020700000000000000" charset="-122"/>
                <a:ea typeface="思源宋体" panose="02020700000000000000" charset="-122"/>
                <a:sym typeface="+mn-ea"/>
              </a:rPr>
              <a:t>创新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67BDFD3-4348-9E60-5DA9-D5259D6454E3}"/>
              </a:ext>
            </a:extLst>
          </p:cNvPr>
          <p:cNvCxnSpPr/>
          <p:nvPr/>
        </p:nvCxnSpPr>
        <p:spPr>
          <a:xfrm>
            <a:off x="477520" y="2334260"/>
            <a:ext cx="33401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CF76866-8F94-1507-7290-931F43233E0A}"/>
              </a:ext>
            </a:extLst>
          </p:cNvPr>
          <p:cNvCxnSpPr/>
          <p:nvPr/>
        </p:nvCxnSpPr>
        <p:spPr>
          <a:xfrm>
            <a:off x="477520" y="4772660"/>
            <a:ext cx="33401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D5A04C7-2FA2-1E81-0C05-40368D5F84C8}"/>
              </a:ext>
            </a:extLst>
          </p:cNvPr>
          <p:cNvGrpSpPr/>
          <p:nvPr/>
        </p:nvGrpSpPr>
        <p:grpSpPr>
          <a:xfrm>
            <a:off x="11794195" y="921483"/>
            <a:ext cx="427355" cy="2954336"/>
            <a:chOff x="11395075" y="-635"/>
            <a:chExt cx="427355" cy="2954336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65B8593-5A8B-F5A7-A270-0B1C3AC5478C}"/>
                </a:ext>
              </a:extLst>
            </p:cNvPr>
            <p:cNvSpPr txBox="1"/>
            <p:nvPr/>
          </p:nvSpPr>
          <p:spPr>
            <a:xfrm>
              <a:off x="11395075" y="970596"/>
              <a:ext cx="427355" cy="1983105"/>
            </a:xfrm>
            <a:prstGeom prst="rect">
              <a:avLst/>
            </a:prstGeom>
            <a:noFill/>
          </p:spPr>
          <p:txBody>
            <a:bodyPr vert="eaVert" wrap="square" rtlCol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900" spc="10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  <a:sym typeface="+mn-ea"/>
                </a:rPr>
                <a:t>WEST CHINA HOSPITAL</a:t>
              </a:r>
            </a:p>
            <a:p>
              <a:pPr algn="l">
                <a:lnSpc>
                  <a:spcPct val="100000"/>
                </a:lnSpc>
              </a:pPr>
              <a:r>
                <a:rPr lang="en-US" altLang="zh-CN" sz="900" b="1" spc="10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  <a:sym typeface="+mn-ea"/>
                </a:rPr>
                <a:t>SICHUAN UNIVERSITY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93D371F-8186-5153-A1EC-0CCEE5BC47FF}"/>
                </a:ext>
              </a:extLst>
            </p:cNvPr>
            <p:cNvSpPr/>
            <p:nvPr/>
          </p:nvSpPr>
          <p:spPr>
            <a:xfrm>
              <a:off x="11395075" y="-635"/>
              <a:ext cx="368300" cy="912495"/>
            </a:xfrm>
            <a:prstGeom prst="rect">
              <a:avLst/>
            </a:prstGeom>
            <a:solidFill>
              <a:srgbClr val="8800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 descr="四川大学华西临床医学院（华西医院）描边">
              <a:extLst>
                <a:ext uri="{FF2B5EF4-FFF2-40B4-BE49-F238E27FC236}">
                  <a16:creationId xmlns:a16="http://schemas.microsoft.com/office/drawing/2014/main" id="{D9183DB8-F0B4-C315-B0F9-7FAD4AA2C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54805" b="4057"/>
            <a:stretch>
              <a:fillRect/>
            </a:stretch>
          </p:blipFill>
          <p:spPr>
            <a:xfrm>
              <a:off x="11413490" y="178435"/>
              <a:ext cx="331470" cy="300355"/>
            </a:xfrm>
            <a:prstGeom prst="rect">
              <a:avLst/>
            </a:prstGeom>
          </p:spPr>
        </p:pic>
        <p:pic>
          <p:nvPicPr>
            <p:cNvPr id="16" name="图片 15" descr="四川大学华西临床医学院（华西医院）描边">
              <a:extLst>
                <a:ext uri="{FF2B5EF4-FFF2-40B4-BE49-F238E27FC236}">
                  <a16:creationId xmlns:a16="http://schemas.microsoft.com/office/drawing/2014/main" id="{6E1A69AA-4A91-5D86-C0F7-E6091A87D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5628" r="4848" b="3043"/>
            <a:stretch>
              <a:fillRect/>
            </a:stretch>
          </p:blipFill>
          <p:spPr>
            <a:xfrm>
              <a:off x="11412538" y="517525"/>
              <a:ext cx="333375" cy="278765"/>
            </a:xfrm>
            <a:prstGeom prst="rect">
              <a:avLst/>
            </a:prstGeom>
          </p:spPr>
        </p:pic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281BE5D6-FA4B-E164-B3E9-BD353386BD7F}"/>
              </a:ext>
            </a:extLst>
          </p:cNvPr>
          <p:cNvSpPr txBox="1"/>
          <p:nvPr/>
        </p:nvSpPr>
        <p:spPr>
          <a:xfrm>
            <a:off x="5243639" y="6310233"/>
            <a:ext cx="69483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altLang="zh-CN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Molecular Psychiatry volume 16, pages252–264 (2011)</a:t>
            </a:r>
          </a:p>
          <a:p>
            <a:pPr algn="r"/>
            <a:r>
              <a:rPr lang="en-US" altLang="zh-CN" sz="1400" i="1" dirty="0">
                <a:solidFill>
                  <a:srgbClr val="222222"/>
                </a:solidFill>
                <a:latin typeface="Arial" panose="020B0604020202020204" pitchFamily="34" charset="0"/>
              </a:rPr>
              <a:t>Biological Psychiatry Volume 85, Issue 6, 15 March 2019, Pages 436-438</a:t>
            </a:r>
          </a:p>
          <a:p>
            <a:pPr algn="r"/>
            <a:r>
              <a:rPr lang="en-US" altLang="zh-CN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endParaRPr lang="zh-CN" altLang="en-US" sz="1400" i="1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DAA6E0C-6F8E-825B-A35A-977F30DF47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313" y="1400908"/>
            <a:ext cx="6524625" cy="18288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0CA0074-2AD8-97D0-70B8-F83B137CA4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8883" y="1360886"/>
            <a:ext cx="1465856" cy="718557"/>
          </a:xfrm>
          <a:prstGeom prst="rect">
            <a:avLst/>
          </a:pr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707EC77A-EB22-C72D-CE7D-8A317CEF65F3}"/>
              </a:ext>
            </a:extLst>
          </p:cNvPr>
          <p:cNvGrpSpPr/>
          <p:nvPr/>
        </p:nvGrpSpPr>
        <p:grpSpPr>
          <a:xfrm>
            <a:off x="0" y="949025"/>
            <a:ext cx="10039149" cy="532199"/>
            <a:chOff x="0" y="160496"/>
            <a:chExt cx="12192000" cy="532199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A1F34733-A45E-5502-D788-E79589B6244D}"/>
                </a:ext>
              </a:extLst>
            </p:cNvPr>
            <p:cNvCxnSpPr/>
            <p:nvPr/>
          </p:nvCxnSpPr>
          <p:spPr bwMode="auto">
            <a:xfrm>
              <a:off x="636427" y="671548"/>
              <a:ext cx="1155557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平行四边形 24">
              <a:extLst>
                <a:ext uri="{FF2B5EF4-FFF2-40B4-BE49-F238E27FC236}">
                  <a16:creationId xmlns:a16="http://schemas.microsoft.com/office/drawing/2014/main" id="{475BFE39-15AD-3600-E7F8-B96EC87B7766}"/>
                </a:ext>
              </a:extLst>
            </p:cNvPr>
            <p:cNvSpPr/>
            <p:nvPr/>
          </p:nvSpPr>
          <p:spPr bwMode="auto">
            <a:xfrm>
              <a:off x="0" y="160496"/>
              <a:ext cx="1131643" cy="532199"/>
            </a:xfrm>
            <a:prstGeom prst="parallelogram">
              <a:avLst/>
            </a:prstGeom>
            <a:solidFill>
              <a:srgbClr val="9E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6" name="文本框 6">
              <a:extLst>
                <a:ext uri="{FF2B5EF4-FFF2-40B4-BE49-F238E27FC236}">
                  <a16:creationId xmlns:a16="http://schemas.microsoft.com/office/drawing/2014/main" id="{2952EA5D-127E-4F0A-9F64-2A4EF08DA4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977" y="182339"/>
              <a:ext cx="7074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>
                    <a:lumMod val="10000"/>
                    <a:lumOff val="9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3">
              <a:extLst>
                <a:ext uri="{FF2B5EF4-FFF2-40B4-BE49-F238E27FC236}">
                  <a16:creationId xmlns:a16="http://schemas.microsoft.com/office/drawing/2014/main" id="{0CC2957D-54A6-76D4-727E-D14481406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8259" y="174936"/>
              <a:ext cx="697243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dirty="0">
                  <a:ea typeface="Calibri" panose="020F0502020204030204" pitchFamily="34" charset="0"/>
                  <a:cs typeface="Calibri" panose="020F0502020204030204" pitchFamily="34" charset="0"/>
                </a:rPr>
                <a:t>The Role of the Hippocampus in Depression</a:t>
              </a:r>
              <a:endParaRPr lang="zh-CN" altLang="en-US" sz="2400" b="1" dirty="0">
                <a:ea typeface="微软雅黑" panose="020B0503020204020204" pitchFamily="34" charset="-122"/>
                <a:cs typeface="Calibri" panose="020F0502020204030204" pitchFamily="34" charset="0"/>
              </a:endParaRPr>
            </a:p>
          </p:txBody>
        </p: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6B817957-B52B-A5CE-FE72-EC4480CB05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535" y="2867834"/>
            <a:ext cx="5209996" cy="364455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F858ABF6-5DB5-300A-BD2A-3D9BF91D765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43380"/>
          <a:stretch/>
        </p:blipFill>
        <p:spPr>
          <a:xfrm>
            <a:off x="6012884" y="3782560"/>
            <a:ext cx="5893061" cy="2572964"/>
          </a:xfrm>
          <a:prstGeom prst="rect">
            <a:avLst/>
          </a:prstGeom>
        </p:spPr>
      </p:pic>
      <p:pic>
        <p:nvPicPr>
          <p:cNvPr id="23" name="Picture 2">
            <a:extLst>
              <a:ext uri="{FF2B5EF4-FFF2-40B4-BE49-F238E27FC236}">
                <a16:creationId xmlns:a16="http://schemas.microsoft.com/office/drawing/2014/main" id="{390E672D-1040-20C1-1897-64CC4D4FA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782" y="1989015"/>
            <a:ext cx="4586698" cy="175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9914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CDAE62-8234-E9E2-3262-9B8AFF37D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 descr="D:/设计文档/3-2024年/PPT/2024年PPT模板/模板一/画板 4.png画板 4">
            <a:extLst>
              <a:ext uri="{FF2B5EF4-FFF2-40B4-BE49-F238E27FC236}">
                <a16:creationId xmlns:a16="http://schemas.microsoft.com/office/drawing/2014/main" id="{9A3228F9-2D08-ECD7-2121-C3E5F62931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806" b="83009"/>
          <a:stretch>
            <a:fillRect/>
          </a:stretch>
        </p:blipFill>
        <p:spPr>
          <a:xfrm>
            <a:off x="0" y="6376670"/>
            <a:ext cx="12192000" cy="49276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447E986-6564-7448-4C14-0D84EC285CD8}"/>
              </a:ext>
            </a:extLst>
          </p:cNvPr>
          <p:cNvSpPr txBox="1"/>
          <p:nvPr/>
        </p:nvSpPr>
        <p:spPr>
          <a:xfrm>
            <a:off x="9322846" y="6469161"/>
            <a:ext cx="29526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Science, 2012, 338(6103): 72-75.</a:t>
            </a:r>
            <a:endParaRPr lang="zh-CN" altLang="en-US" sz="1400" i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CDF53D6-F31E-636D-562B-B3FEFDF43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019" y="1168455"/>
            <a:ext cx="6248249" cy="237113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38D5C52-86B2-4DB4-6327-23EF2B19D8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33" r="-433" b="36814"/>
          <a:stretch>
            <a:fillRect/>
          </a:stretch>
        </p:blipFill>
        <p:spPr>
          <a:xfrm>
            <a:off x="6389494" y="2012634"/>
            <a:ext cx="5210160" cy="4210575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30F90099-7F18-DEDA-779A-834E2D959F09}"/>
              </a:ext>
            </a:extLst>
          </p:cNvPr>
          <p:cNvGrpSpPr/>
          <p:nvPr/>
        </p:nvGrpSpPr>
        <p:grpSpPr>
          <a:xfrm>
            <a:off x="11794195" y="921483"/>
            <a:ext cx="427355" cy="2954336"/>
            <a:chOff x="11395075" y="-635"/>
            <a:chExt cx="427355" cy="2954336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BAA2D72-B0FF-F53C-2AD2-19F94D04418E}"/>
                </a:ext>
              </a:extLst>
            </p:cNvPr>
            <p:cNvSpPr txBox="1"/>
            <p:nvPr/>
          </p:nvSpPr>
          <p:spPr>
            <a:xfrm>
              <a:off x="11395075" y="970596"/>
              <a:ext cx="427355" cy="1983105"/>
            </a:xfrm>
            <a:prstGeom prst="rect">
              <a:avLst/>
            </a:prstGeom>
            <a:noFill/>
          </p:spPr>
          <p:txBody>
            <a:bodyPr vert="eaVert" wrap="square" rtlCol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900" spc="10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  <a:sym typeface="+mn-ea"/>
                </a:rPr>
                <a:t>WEST CHINA HOSPITAL</a:t>
              </a:r>
            </a:p>
            <a:p>
              <a:pPr algn="l">
                <a:lnSpc>
                  <a:spcPct val="100000"/>
                </a:lnSpc>
              </a:pPr>
              <a:r>
                <a:rPr lang="en-US" altLang="zh-CN" sz="900" b="1" spc="10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  <a:sym typeface="+mn-ea"/>
                </a:rPr>
                <a:t>SICHUAN UNIVERSITY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952A526-328A-2D0F-8C39-32C45BD4F3EE}"/>
                </a:ext>
              </a:extLst>
            </p:cNvPr>
            <p:cNvSpPr/>
            <p:nvPr/>
          </p:nvSpPr>
          <p:spPr>
            <a:xfrm>
              <a:off x="11395075" y="-635"/>
              <a:ext cx="368300" cy="912495"/>
            </a:xfrm>
            <a:prstGeom prst="rect">
              <a:avLst/>
            </a:prstGeom>
            <a:solidFill>
              <a:srgbClr val="8800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 descr="四川大学华西临床医学院（华西医院）描边">
              <a:extLst>
                <a:ext uri="{FF2B5EF4-FFF2-40B4-BE49-F238E27FC236}">
                  <a16:creationId xmlns:a16="http://schemas.microsoft.com/office/drawing/2014/main" id="{BD9AAA89-9C10-8094-C04D-490A21BFA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54805" b="4057"/>
            <a:stretch>
              <a:fillRect/>
            </a:stretch>
          </p:blipFill>
          <p:spPr>
            <a:xfrm>
              <a:off x="11413490" y="178435"/>
              <a:ext cx="331470" cy="300355"/>
            </a:xfrm>
            <a:prstGeom prst="rect">
              <a:avLst/>
            </a:prstGeom>
          </p:spPr>
        </p:pic>
        <p:pic>
          <p:nvPicPr>
            <p:cNvPr id="12" name="图片 11" descr="四川大学华西临床医学院（华西医院）描边">
              <a:extLst>
                <a:ext uri="{FF2B5EF4-FFF2-40B4-BE49-F238E27FC236}">
                  <a16:creationId xmlns:a16="http://schemas.microsoft.com/office/drawing/2014/main" id="{2E19F86E-419E-7039-DDA5-54C4FE119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45628" r="4848" b="3043"/>
            <a:stretch>
              <a:fillRect/>
            </a:stretch>
          </p:blipFill>
          <p:spPr>
            <a:xfrm>
              <a:off x="11412538" y="517525"/>
              <a:ext cx="333375" cy="278765"/>
            </a:xfrm>
            <a:prstGeom prst="rect">
              <a:avLst/>
            </a:prstGeom>
          </p:spPr>
        </p:pic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6C439C3E-5769-C306-78C3-21B28D80D3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4078"/>
          <a:stretch>
            <a:fillRect/>
          </a:stretch>
        </p:blipFill>
        <p:spPr>
          <a:xfrm>
            <a:off x="701497" y="3682876"/>
            <a:ext cx="5551294" cy="255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4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2D84E415-9C30-EE26-830A-004BC863B89B}"/>
              </a:ext>
            </a:extLst>
          </p:cNvPr>
          <p:cNvGrpSpPr/>
          <p:nvPr/>
        </p:nvGrpSpPr>
        <p:grpSpPr>
          <a:xfrm>
            <a:off x="87812" y="878312"/>
            <a:ext cx="12096354" cy="5845637"/>
            <a:chOff x="-55024" y="491680"/>
            <a:chExt cx="12562696" cy="6481836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6E0D6FB-AC36-AD58-2F45-16FC17D3BF59}"/>
                </a:ext>
              </a:extLst>
            </p:cNvPr>
            <p:cNvSpPr txBox="1"/>
            <p:nvPr/>
          </p:nvSpPr>
          <p:spPr>
            <a:xfrm>
              <a:off x="8021433" y="6632243"/>
              <a:ext cx="4486239" cy="3412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i="1" dirty="0"/>
                <a:t>J </a:t>
              </a:r>
              <a:r>
                <a:rPr lang="en-US" altLang="zh-CN" sz="1400" i="1" dirty="0" err="1"/>
                <a:t>Magn</a:t>
              </a:r>
              <a:r>
                <a:rPr lang="en-US" altLang="zh-CN" sz="1400" i="1" dirty="0"/>
                <a:t> </a:t>
              </a:r>
              <a:r>
                <a:rPr lang="en-US" altLang="zh-CN" sz="1400" i="1" dirty="0" err="1"/>
                <a:t>Reson</a:t>
              </a:r>
              <a:r>
                <a:rPr lang="en-US" altLang="zh-CN" sz="1400" i="1" dirty="0"/>
                <a:t> Imaging. 2019 Jun;49(6):1760-1768</a:t>
              </a:r>
              <a:r>
                <a:rPr lang="zh-CN" altLang="en-US" sz="1400" dirty="0"/>
                <a:t>）</a:t>
              </a:r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FF97107D-853C-232A-E5E6-A1D16378AA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47943"/>
            <a:stretch/>
          </p:blipFill>
          <p:spPr>
            <a:xfrm>
              <a:off x="1511243" y="2539329"/>
              <a:ext cx="3327834" cy="1895475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516F198D-B0C5-44A2-0690-FB8F946E9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278" y="1206564"/>
              <a:ext cx="2973070" cy="1895475"/>
            </a:xfrm>
            <a:prstGeom prst="rect">
              <a:avLst/>
            </a:prstGeom>
          </p:spPr>
        </p:pic>
        <p:pic>
          <p:nvPicPr>
            <p:cNvPr id="35" name="Picture 2" descr="Details are in the caption following the image">
              <a:extLst>
                <a:ext uri="{FF2B5EF4-FFF2-40B4-BE49-F238E27FC236}">
                  <a16:creationId xmlns:a16="http://schemas.microsoft.com/office/drawing/2014/main" id="{92B0DB99-B96F-36F8-E2E7-E2CD5477CA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6221" y="1205321"/>
              <a:ext cx="6284913" cy="46372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2" descr="Details are in the caption following the image">
              <a:extLst>
                <a:ext uri="{FF2B5EF4-FFF2-40B4-BE49-F238E27FC236}">
                  <a16:creationId xmlns:a16="http://schemas.microsoft.com/office/drawing/2014/main" id="{554B6134-E442-8BF0-C415-59DE6739FE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098" y="4412038"/>
              <a:ext cx="4762500" cy="12477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A33D27A4-0D9A-D23E-AAB2-C7D13C7B02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836" t="52570"/>
            <a:stretch/>
          </p:blipFill>
          <p:spPr>
            <a:xfrm>
              <a:off x="3507147" y="1565025"/>
              <a:ext cx="1997675" cy="1543543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FED6FE3-F3E0-018C-B83F-1E53D60B1136}"/>
                </a:ext>
              </a:extLst>
            </p:cNvPr>
            <p:cNvSpPr txBox="1"/>
            <p:nvPr/>
          </p:nvSpPr>
          <p:spPr>
            <a:xfrm>
              <a:off x="216993" y="5881059"/>
              <a:ext cx="10998458" cy="7005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50000"/>
                </a:lnSpc>
                <a:buClrTx/>
                <a:buSzTx/>
                <a:buFontTx/>
              </a:pPr>
              <a:r>
                <a:rPr lang="en-US" altLang="zh-CN" sz="1400" dirty="0"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Using the volume of hippocampal subfields, we can </a:t>
              </a:r>
              <a:r>
                <a:rPr lang="en-US" altLang="zh-CN" sz="1400" dirty="0">
                  <a:solidFill>
                    <a:srgbClr val="C00000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predict the treatment response </a:t>
              </a:r>
              <a:r>
                <a:rPr lang="en-US" altLang="zh-CN" sz="1400" dirty="0"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in first-episode, never treated patients</a:t>
              </a:r>
            </a:p>
            <a:p>
              <a:pPr lvl="0">
                <a:lnSpc>
                  <a:spcPct val="150000"/>
                </a:lnSpc>
                <a:buClrTx/>
                <a:buSzTx/>
                <a:buFontTx/>
              </a:pPr>
              <a:r>
                <a:rPr lang="en-US" altLang="zh-CN" sz="1400" dirty="0"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Sensitivity</a:t>
              </a:r>
              <a:r>
                <a:rPr lang="zh-CN" altLang="en-US" sz="1400" dirty="0"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：</a:t>
              </a:r>
              <a:r>
                <a:rPr lang="en-US" altLang="zh-CN" sz="1400" dirty="0"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76.9%, Specificity: 80%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5A65C7D-B285-D8D5-9AA8-9442BACD7E63}"/>
                </a:ext>
              </a:extLst>
            </p:cNvPr>
            <p:cNvSpPr txBox="1"/>
            <p:nvPr/>
          </p:nvSpPr>
          <p:spPr>
            <a:xfrm>
              <a:off x="-55024" y="491680"/>
              <a:ext cx="5559846" cy="4095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zh-CN" altLang="en-US" b="1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4337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D:/设计文档/3-2024年/PPT/2024年PPT模板/模板一/画板 4.png画板 4">
            <a:extLst>
              <a:ext uri="{FF2B5EF4-FFF2-40B4-BE49-F238E27FC236}">
                <a16:creationId xmlns:a16="http://schemas.microsoft.com/office/drawing/2014/main" id="{835F97A0-C002-CEA8-5495-88FB88E189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806" b="83009"/>
          <a:stretch>
            <a:fillRect/>
          </a:stretch>
        </p:blipFill>
        <p:spPr>
          <a:xfrm>
            <a:off x="0" y="6278039"/>
            <a:ext cx="12192000" cy="427618"/>
          </a:xfrm>
          <a:prstGeom prst="rect">
            <a:avLst/>
          </a:prstGeom>
        </p:spPr>
      </p:pic>
      <p:pic>
        <p:nvPicPr>
          <p:cNvPr id="9" name="图片 8" descr="2022印章-02">
            <a:extLst>
              <a:ext uri="{FF2B5EF4-FFF2-40B4-BE49-F238E27FC236}">
                <a16:creationId xmlns:a16="http://schemas.microsoft.com/office/drawing/2014/main" id="{52ACA54B-41FC-4CD3-595F-2DFF8F1B2A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40" y="4476092"/>
            <a:ext cx="369570" cy="338347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7A20632-4071-2D2F-A4B6-20ABF81084EE}"/>
              </a:ext>
            </a:extLst>
          </p:cNvPr>
          <p:cNvCxnSpPr/>
          <p:nvPr/>
        </p:nvCxnSpPr>
        <p:spPr>
          <a:xfrm>
            <a:off x="644525" y="744354"/>
            <a:ext cx="0" cy="2025675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36E6A16-85A9-5687-C91C-9C7A340DBDC4}"/>
              </a:ext>
            </a:extLst>
          </p:cNvPr>
          <p:cNvCxnSpPr/>
          <p:nvPr/>
        </p:nvCxnSpPr>
        <p:spPr>
          <a:xfrm>
            <a:off x="644525" y="4890485"/>
            <a:ext cx="0" cy="1808559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CDEFDE3-B21F-2A5B-8149-796E12F6D1B9}"/>
              </a:ext>
            </a:extLst>
          </p:cNvPr>
          <p:cNvSpPr txBox="1"/>
          <p:nvPr/>
        </p:nvSpPr>
        <p:spPr>
          <a:xfrm>
            <a:off x="424180" y="2770029"/>
            <a:ext cx="400685" cy="1739127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 algn="ctr"/>
            <a:r>
              <a:rPr lang="zh-CN" altLang="en-US" sz="1200" b="1" spc="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思源宋体" panose="02020700000000000000" charset="-122"/>
                <a:ea typeface="思源宋体" panose="02020700000000000000" charset="-122"/>
                <a:sym typeface="+mn-ea"/>
              </a:rPr>
              <a:t>厚德</a:t>
            </a:r>
            <a:r>
              <a:rPr lang="en-US" altLang="zh-CN" sz="1200" b="1" spc="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思源宋体" panose="02020700000000000000" charset="-122"/>
                <a:ea typeface="思源宋体" panose="02020700000000000000" charset="-122"/>
                <a:sym typeface="+mn-ea"/>
              </a:rPr>
              <a:t>  </a:t>
            </a:r>
            <a:r>
              <a:rPr lang="zh-CN" altLang="en-US" sz="1200" b="1" spc="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思源宋体" panose="02020700000000000000" charset="-122"/>
                <a:ea typeface="思源宋体" panose="02020700000000000000" charset="-122"/>
                <a:sym typeface="+mn-ea"/>
              </a:rPr>
              <a:t>精业</a:t>
            </a:r>
            <a:r>
              <a:rPr lang="en-US" altLang="zh-CN" sz="1200" b="1" spc="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思源宋体" panose="02020700000000000000" charset="-122"/>
                <a:ea typeface="思源宋体" panose="02020700000000000000" charset="-122"/>
                <a:sym typeface="+mn-ea"/>
              </a:rPr>
              <a:t>  </a:t>
            </a:r>
            <a:r>
              <a:rPr lang="zh-CN" altLang="en-US" sz="1200" b="1" spc="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思源宋体" panose="02020700000000000000" charset="-122"/>
                <a:ea typeface="思源宋体" panose="02020700000000000000" charset="-122"/>
                <a:sym typeface="+mn-ea"/>
              </a:rPr>
              <a:t>求实</a:t>
            </a:r>
            <a:r>
              <a:rPr lang="en-US" altLang="zh-CN" sz="1200" b="1" spc="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思源宋体" panose="02020700000000000000" charset="-122"/>
                <a:ea typeface="思源宋体" panose="02020700000000000000" charset="-122"/>
                <a:sym typeface="+mn-ea"/>
              </a:rPr>
              <a:t>  </a:t>
            </a:r>
            <a:r>
              <a:rPr lang="zh-CN" altLang="en-US" sz="1200" b="1" spc="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思源宋体" panose="02020700000000000000" charset="-122"/>
                <a:ea typeface="思源宋体" panose="02020700000000000000" charset="-122"/>
                <a:sym typeface="+mn-ea"/>
              </a:rPr>
              <a:t>创新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148A47B-5A21-7DC2-49B3-1885B4C9429B}"/>
              </a:ext>
            </a:extLst>
          </p:cNvPr>
          <p:cNvCxnSpPr/>
          <p:nvPr/>
        </p:nvCxnSpPr>
        <p:spPr>
          <a:xfrm>
            <a:off x="477520" y="2770029"/>
            <a:ext cx="33401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E094A6C-DA06-8736-49FA-A596BECF746D}"/>
              </a:ext>
            </a:extLst>
          </p:cNvPr>
          <p:cNvCxnSpPr/>
          <p:nvPr/>
        </p:nvCxnSpPr>
        <p:spPr>
          <a:xfrm>
            <a:off x="477520" y="4886076"/>
            <a:ext cx="33401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13C5777-391A-84AD-59BF-041E5BC8B14A}"/>
              </a:ext>
            </a:extLst>
          </p:cNvPr>
          <p:cNvGrpSpPr/>
          <p:nvPr/>
        </p:nvGrpSpPr>
        <p:grpSpPr>
          <a:xfrm>
            <a:off x="424180" y="1036257"/>
            <a:ext cx="9826725" cy="469486"/>
            <a:chOff x="257977" y="130541"/>
            <a:chExt cx="11934023" cy="541007"/>
          </a:xfrm>
        </p:grpSpPr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BB3E7A00-A5FD-FA4C-10EF-3EA75DD58091}"/>
                </a:ext>
              </a:extLst>
            </p:cNvPr>
            <p:cNvCxnSpPr/>
            <p:nvPr/>
          </p:nvCxnSpPr>
          <p:spPr bwMode="auto">
            <a:xfrm>
              <a:off x="636427" y="671548"/>
              <a:ext cx="1155557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6">
              <a:extLst>
                <a:ext uri="{FF2B5EF4-FFF2-40B4-BE49-F238E27FC236}">
                  <a16:creationId xmlns:a16="http://schemas.microsoft.com/office/drawing/2014/main" id="{30EA659A-1A7D-281A-82BD-1FDFD27491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977" y="182339"/>
              <a:ext cx="7074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>
                    <a:lumMod val="10000"/>
                    <a:lumOff val="9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3">
              <a:extLst>
                <a:ext uri="{FF2B5EF4-FFF2-40B4-BE49-F238E27FC236}">
                  <a16:creationId xmlns:a16="http://schemas.microsoft.com/office/drawing/2014/main" id="{7F58A882-9B77-A046-5BB3-EFC1F0BED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709" y="130541"/>
              <a:ext cx="5083379" cy="531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ea typeface="微软雅黑" panose="020B0503020204020204" pitchFamily="34" charset="-122"/>
                  <a:cs typeface="Calibri" panose="020F0502020204030204" pitchFamily="34" charset="0"/>
                </a:rPr>
                <a:t>整体还是局部？如何分亚区？</a:t>
              </a:r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F723ED59-BC56-F16D-B055-3A357FD33E6F}"/>
              </a:ext>
            </a:extLst>
          </p:cNvPr>
          <p:cNvSpPr txBox="1"/>
          <p:nvPr/>
        </p:nvSpPr>
        <p:spPr>
          <a:xfrm>
            <a:off x="6027020" y="6406403"/>
            <a:ext cx="6164980" cy="267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400" i="1" dirty="0">
                <a:solidFill>
                  <a:srgbClr val="222222"/>
                </a:solidFill>
                <a:latin typeface="Arial" panose="020B0604020202020204" pitchFamily="34" charset="0"/>
              </a:rPr>
              <a:t>Biological Psychiatry March 15, 2019; 85:487–497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953118A3-5056-5746-6B0D-2CA6807EAE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2265"/>
          <a:stretch/>
        </p:blipFill>
        <p:spPr>
          <a:xfrm>
            <a:off x="824865" y="2090407"/>
            <a:ext cx="1992786" cy="3261850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71B555F1-CFEF-93F8-2F3E-75748791252B}"/>
              </a:ext>
            </a:extLst>
          </p:cNvPr>
          <p:cNvGrpSpPr/>
          <p:nvPr/>
        </p:nvGrpSpPr>
        <p:grpSpPr>
          <a:xfrm>
            <a:off x="11794195" y="921483"/>
            <a:ext cx="427355" cy="2954336"/>
            <a:chOff x="11395075" y="-635"/>
            <a:chExt cx="427355" cy="2954336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93F99D59-AA01-6503-033F-D42D2C0295A5}"/>
                </a:ext>
              </a:extLst>
            </p:cNvPr>
            <p:cNvSpPr txBox="1"/>
            <p:nvPr/>
          </p:nvSpPr>
          <p:spPr>
            <a:xfrm>
              <a:off x="11395075" y="970596"/>
              <a:ext cx="427355" cy="1983105"/>
            </a:xfrm>
            <a:prstGeom prst="rect">
              <a:avLst/>
            </a:prstGeom>
            <a:noFill/>
          </p:spPr>
          <p:txBody>
            <a:bodyPr vert="eaVert" wrap="square" rtlCol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900" spc="10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  <a:sym typeface="+mn-ea"/>
                </a:rPr>
                <a:t>WEST CHINA HOSPITAL</a:t>
              </a:r>
            </a:p>
            <a:p>
              <a:pPr algn="l">
                <a:lnSpc>
                  <a:spcPct val="100000"/>
                </a:lnSpc>
              </a:pPr>
              <a:r>
                <a:rPr lang="en-US" altLang="zh-CN" sz="900" b="1" spc="10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  <a:sym typeface="+mn-ea"/>
                </a:rPr>
                <a:t>SICHUAN UNIVERSITY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D53FED14-2898-644E-E299-5A2ECD6B7070}"/>
                </a:ext>
              </a:extLst>
            </p:cNvPr>
            <p:cNvSpPr/>
            <p:nvPr/>
          </p:nvSpPr>
          <p:spPr>
            <a:xfrm>
              <a:off x="11395075" y="-635"/>
              <a:ext cx="368300" cy="912495"/>
            </a:xfrm>
            <a:prstGeom prst="rect">
              <a:avLst/>
            </a:prstGeom>
            <a:solidFill>
              <a:srgbClr val="8800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3" name="图片 32" descr="四川大学华西临床医学院（华西医院）描边">
              <a:extLst>
                <a:ext uri="{FF2B5EF4-FFF2-40B4-BE49-F238E27FC236}">
                  <a16:creationId xmlns:a16="http://schemas.microsoft.com/office/drawing/2014/main" id="{189AE507-A51E-1578-A1F9-60FFF8C9E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54805" b="4057"/>
            <a:stretch>
              <a:fillRect/>
            </a:stretch>
          </p:blipFill>
          <p:spPr>
            <a:xfrm>
              <a:off x="11413490" y="178435"/>
              <a:ext cx="331470" cy="300355"/>
            </a:xfrm>
            <a:prstGeom prst="rect">
              <a:avLst/>
            </a:prstGeom>
          </p:spPr>
        </p:pic>
        <p:pic>
          <p:nvPicPr>
            <p:cNvPr id="34" name="图片 33" descr="四川大学华西临床医学院（华西医院）描边">
              <a:extLst>
                <a:ext uri="{FF2B5EF4-FFF2-40B4-BE49-F238E27FC236}">
                  <a16:creationId xmlns:a16="http://schemas.microsoft.com/office/drawing/2014/main" id="{88F5FB19-DAC5-B3FD-EB84-39D0CA7A1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45628" r="4848" b="3043"/>
            <a:stretch>
              <a:fillRect/>
            </a:stretch>
          </p:blipFill>
          <p:spPr>
            <a:xfrm>
              <a:off x="11412538" y="517525"/>
              <a:ext cx="333375" cy="278765"/>
            </a:xfrm>
            <a:prstGeom prst="rect">
              <a:avLst/>
            </a:prstGeom>
          </p:spPr>
        </p:pic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2676ECE-0B55-D46E-96F7-04F98C1C1A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2855" y="1609121"/>
            <a:ext cx="9021625" cy="463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677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cs typeface="+mn-ea"/>
                <a:sym typeface="+mn-lt"/>
              </a:rPr>
              <a:t>8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52245B-5333-7840-B3E6-C52D446EC9B0}"/>
              </a:ext>
            </a:extLst>
          </p:cNvPr>
          <p:cNvSpPr txBox="1"/>
          <p:nvPr/>
        </p:nvSpPr>
        <p:spPr>
          <a:xfrm>
            <a:off x="317163" y="4811260"/>
            <a:ext cx="8712968" cy="1727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排除标准：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✘ </a:t>
            </a:r>
            <a:r>
              <a:rPr lang="zh-CN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无合并的轴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I</a:t>
            </a:r>
            <a:r>
              <a:rPr lang="zh-CN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类精神疾病，比如精神分裂症，焦虑症或者双相情感性精神障碍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✘ </a:t>
            </a:r>
            <a:r>
              <a:rPr lang="zh-CN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没有心脏病、全身各系统重大疾病及神经疾病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✘  </a:t>
            </a:r>
            <a:r>
              <a:rPr lang="zh-CN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无物质依赖及滥用；</a:t>
            </a:r>
            <a:endParaRPr lang="en-US" altLang="zh-CN" dirty="0">
              <a:latin typeface="Calibri" panose="020F0502020204030204" pitchFamily="34" charset="0"/>
              <a:ea typeface="Kaiti SC" panose="02010600040101010101" pitchFamily="2" charset="-122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✘  无</a:t>
            </a:r>
            <a:r>
              <a:rPr lang="zh-CN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磁共振检查禁忌症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（</a:t>
            </a:r>
            <a:r>
              <a:rPr lang="zh-CN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体内有植入金属、起搏器等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）。</a:t>
            </a:r>
            <a:endParaRPr kumimoji="1" lang="zh-CN" altLang="en-US" dirty="0">
              <a:latin typeface="Calibri" panose="020F0502020204030204" pitchFamily="34" charset="0"/>
              <a:ea typeface="Kaiti SC" panose="02010600040101010101" pitchFamily="2" charset="-122"/>
              <a:cs typeface="Calibri" panose="020F0502020204030204" pitchFamily="34" charset="0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A9E3BBE-C24B-3B44-9DEA-4FF919C961B8}"/>
              </a:ext>
            </a:extLst>
          </p:cNvPr>
          <p:cNvGrpSpPr/>
          <p:nvPr/>
        </p:nvGrpSpPr>
        <p:grpSpPr>
          <a:xfrm>
            <a:off x="317163" y="1806226"/>
            <a:ext cx="11557674" cy="2291012"/>
            <a:chOff x="457203" y="1942187"/>
            <a:chExt cx="11557674" cy="2291012"/>
          </a:xfrm>
        </p:grpSpPr>
        <p:sp>
          <p:nvSpPr>
            <p:cNvPr id="28" name="TextBox 14">
              <a:extLst>
                <a:ext uri="{FF2B5EF4-FFF2-40B4-BE49-F238E27FC236}">
                  <a16:creationId xmlns:a16="http://schemas.microsoft.com/office/drawing/2014/main" id="{05045C8E-169E-0E4A-B651-F3945EF454BB}"/>
                </a:ext>
              </a:extLst>
            </p:cNvPr>
            <p:cNvSpPr txBox="1"/>
            <p:nvPr/>
          </p:nvSpPr>
          <p:spPr>
            <a:xfrm>
              <a:off x="457203" y="1942187"/>
              <a:ext cx="10813313" cy="22910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Kaiti SC" panose="02010600040101010101" pitchFamily="2" charset="-122"/>
                  <a:ea typeface="Kaiti SC" panose="02010600040101010101" pitchFamily="2" charset="-122"/>
                  <a:cs typeface="Calibri" panose="020F0502020204030204" pitchFamily="34" charset="0"/>
                </a:rPr>
                <a:t>  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1.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 被试纳入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（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1</a:t>
              </a:r>
              <a:r>
                <a:rPr kumimoji="0" lang="zh-CN" altLang="zh-CN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）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MDD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患者（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N = 56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）</a:t>
              </a:r>
              <a:endParaRPr kumimoji="0" lang="zh-CN" altLang="zh-CN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lang="zh-CN" altLang="en-US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符合</a:t>
              </a:r>
              <a:r>
                <a:rPr lang="zh-CN" altLang="zh-CN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美国</a:t>
              </a:r>
              <a:r>
                <a:rPr lang="en-US" altLang="zh-CN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DSM-IV</a:t>
              </a:r>
              <a:r>
                <a:rPr lang="zh-CN" altLang="en-US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对</a:t>
              </a:r>
              <a:r>
                <a:rPr lang="en-US" altLang="zh-CN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MDD</a:t>
              </a:r>
              <a:r>
                <a:rPr lang="zh-CN" altLang="en-US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的</a:t>
              </a:r>
              <a:r>
                <a:rPr lang="zh-CN" altLang="zh-CN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诊断标准。</a:t>
              </a:r>
              <a:endPara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lang="zh-CN" altLang="zh-CN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年龄</a:t>
              </a:r>
              <a:r>
                <a:rPr lang="en-US" altLang="zh-CN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18-65</a:t>
              </a:r>
              <a:r>
                <a:rPr lang="zh-CN" altLang="zh-CN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岁</a:t>
              </a:r>
              <a:endPara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lang="zh-CN" altLang="zh-CN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未经历过抗抑郁药物治疗、心理治疗和神经调节治疗</a:t>
              </a:r>
              <a:r>
                <a:rPr lang="zh-CN" altLang="en-US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。</a:t>
              </a:r>
              <a:endPara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lang="en-US" altLang="zh-CN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HAMD</a:t>
              </a:r>
              <a:r>
                <a:rPr lang="zh-CN" altLang="zh-CN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总分</a:t>
              </a:r>
              <a:r>
                <a:rPr lang="en-US" altLang="zh-CN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≥18</a:t>
              </a:r>
              <a:r>
                <a:rPr lang="zh-CN" altLang="zh-CN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（中度抑郁</a:t>
              </a:r>
              <a:r>
                <a:rPr lang="zh-CN" altLang="en-US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）</a:t>
              </a:r>
              <a:r>
                <a:rPr lang="zh-CN" altLang="zh-CN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。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5F99F1BC-8D4B-C94C-9AEB-414D05400098}"/>
                </a:ext>
              </a:extLst>
            </p:cNvPr>
            <p:cNvSpPr txBox="1"/>
            <p:nvPr/>
          </p:nvSpPr>
          <p:spPr>
            <a:xfrm>
              <a:off x="6482050" y="2404554"/>
              <a:ext cx="5532827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（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2</a:t>
              </a:r>
              <a:r>
                <a:rPr kumimoji="0" lang="zh-CN" altLang="zh-CN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）正常对照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组（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N = 70)</a:t>
              </a:r>
              <a:endParaRPr kumimoji="0" lang="zh-CN" altLang="zh-CN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endParaRPr>
            </a:p>
            <a:p>
              <a:pPr marL="285750" lvl="0" indent="-285750">
                <a:lnSpc>
                  <a:spcPct val="12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zh-CN" altLang="zh-CN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年龄</a:t>
              </a:r>
              <a:r>
                <a:rPr lang="en-US" altLang="zh-CN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18-65</a:t>
              </a:r>
              <a:r>
                <a:rPr lang="zh-CN" altLang="zh-CN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岁</a:t>
              </a:r>
              <a:endPara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endParaRPr>
            </a:p>
            <a:p>
              <a:pPr marL="285750" lvl="0" indent="-285750">
                <a:lnSpc>
                  <a:spcPct val="120000"/>
                </a:lnSpc>
                <a:buFont typeface="Wingdings" panose="05000000000000000000" pitchFamily="2" charset="2"/>
                <a:buChar char="ü"/>
                <a:defRPr/>
              </a:pPr>
              <a:r>
                <a:rPr kumimoji="0" lang="zh-CN" altLang="zh-CN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无磁共振扫描禁忌，能配合完成磁共振检查。</a:t>
              </a:r>
              <a:endParaRPr kumimoji="0" lang="en-US" altLang="zh-CN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endParaRPr>
            </a:p>
            <a:p>
              <a:pPr marL="285750" indent="-285750">
                <a:lnSpc>
                  <a:spcPct val="12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zh-CN" altLang="zh-CN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本人或一级亲属</a:t>
              </a:r>
              <a:r>
                <a:rPr lang="zh-CN" altLang="en-US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无</a:t>
              </a:r>
              <a:r>
                <a:rPr lang="zh-CN" altLang="zh-CN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符合</a:t>
              </a:r>
              <a:r>
                <a:rPr lang="en-US" altLang="zh-CN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DSM-IV</a:t>
              </a:r>
              <a:r>
                <a:rPr lang="zh-CN" altLang="zh-CN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诊断的其他重型精神障碍，包括精神分裂症、抑郁症、强迫症等</a:t>
              </a:r>
              <a:r>
                <a:rPr lang="en-US" altLang="zh-CN" dirty="0">
                  <a:latin typeface="Calibri" panose="020F0502020204030204" pitchFamily="34" charset="0"/>
                  <a:ea typeface="Kaiti SC" panose="02010600040101010101" pitchFamily="2" charset="-122"/>
                  <a:cs typeface="Calibri" panose="020F0502020204030204" pitchFamily="34" charset="0"/>
                </a:rPr>
                <a:t>;</a:t>
              </a:r>
              <a:endParaRPr lang="zh-CN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0F67C641-7559-7F47-BBE8-2C9EF4FDE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96" y="161519"/>
            <a:ext cx="1943100" cy="646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3600" b="1" dirty="0">
                <a:solidFill>
                  <a:prstClr val="white"/>
                </a:solidFill>
                <a:latin typeface="+mn-lt"/>
                <a:ea typeface="+mn-ea"/>
                <a:cs typeface="+mn-ea"/>
                <a:sym typeface="+mn-lt"/>
              </a:rPr>
              <a:t>目 录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FEB4620-5766-8D9D-4A3D-10FAF81EF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96" y="161519"/>
            <a:ext cx="1943100" cy="646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3600" b="1" dirty="0">
                <a:solidFill>
                  <a:prstClr val="white"/>
                </a:solidFill>
                <a:latin typeface="+mn-lt"/>
                <a:ea typeface="+mn-ea"/>
                <a:cs typeface="+mn-ea"/>
                <a:sym typeface="+mn-lt"/>
              </a:rPr>
              <a:t>目 录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3E6B75C-FDEC-D57E-55E7-336F82B392F5}"/>
              </a:ext>
            </a:extLst>
          </p:cNvPr>
          <p:cNvGrpSpPr/>
          <p:nvPr/>
        </p:nvGrpSpPr>
        <p:grpSpPr>
          <a:xfrm>
            <a:off x="317163" y="1025896"/>
            <a:ext cx="10039149" cy="549821"/>
            <a:chOff x="0" y="142874"/>
            <a:chExt cx="12192000" cy="549821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1604E72-4720-0309-7A63-69D3E421DD60}"/>
                </a:ext>
              </a:extLst>
            </p:cNvPr>
            <p:cNvCxnSpPr/>
            <p:nvPr/>
          </p:nvCxnSpPr>
          <p:spPr bwMode="auto">
            <a:xfrm>
              <a:off x="636427" y="671548"/>
              <a:ext cx="1155557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FC8FD07A-6186-8A78-F060-99608ADF7082}"/>
                </a:ext>
              </a:extLst>
            </p:cNvPr>
            <p:cNvSpPr/>
            <p:nvPr/>
          </p:nvSpPr>
          <p:spPr bwMode="auto">
            <a:xfrm>
              <a:off x="0" y="160496"/>
              <a:ext cx="1519064" cy="532199"/>
            </a:xfrm>
            <a:prstGeom prst="parallelogram">
              <a:avLst/>
            </a:prstGeom>
            <a:solidFill>
              <a:srgbClr val="9E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D3F2E74-3149-596B-1F0C-ED46765C1D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80" y="190050"/>
              <a:ext cx="7074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</a:p>
          </p:txBody>
        </p:sp>
        <p:sp>
          <p:nvSpPr>
            <p:cNvPr id="8" name="矩形 3">
              <a:extLst>
                <a:ext uri="{FF2B5EF4-FFF2-40B4-BE49-F238E27FC236}">
                  <a16:creationId xmlns:a16="http://schemas.microsoft.com/office/drawing/2014/main" id="{37E9B6DD-B90A-AFAC-D3FB-B0E929BA2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7596" y="142874"/>
              <a:ext cx="285433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cs typeface="+mn-ea"/>
                  <a:sym typeface="+mn-lt"/>
                </a:rPr>
                <a:t>研究方法与材料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3853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cs typeface="+mn-ea"/>
                <a:sym typeface="+mn-lt"/>
              </a:rPr>
              <a:t>9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39" name="Rectangle 6"/>
          <p:cNvSpPr>
            <a:spLocks noChangeArrowheads="1"/>
          </p:cNvSpPr>
          <p:nvPr/>
        </p:nvSpPr>
        <p:spPr bwMode="auto">
          <a:xfrm>
            <a:off x="477934" y="1181685"/>
            <a:ext cx="10801200" cy="245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4572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indent="0">
              <a:lnSpc>
                <a:spcPct val="120000"/>
              </a:lnSpc>
              <a:defRPr/>
            </a:pPr>
            <a:r>
              <a:rPr lang="en-US" altLang="zh-CN" sz="2000" b="1" dirty="0">
                <a:ea typeface="Kaiti SC" panose="02010600040101010101" pitchFamily="2" charset="-122"/>
                <a:cs typeface="Calibri" panose="020F0502020204030204" pitchFamily="34" charset="0"/>
              </a:rPr>
              <a:t>2</a:t>
            </a:r>
            <a:r>
              <a:rPr lang="en-US" altLang="zh-CN" sz="2000" b="1" dirty="0">
                <a:latin typeface="Kaiti SC" panose="02010600040101010101" pitchFamily="2" charset="-122"/>
                <a:ea typeface="Kaiti SC" panose="02010600040101010101" pitchFamily="2" charset="-122"/>
                <a:cs typeface="Calibri" panose="020F0502020204030204" pitchFamily="34" charset="0"/>
              </a:rPr>
              <a:t>.</a:t>
            </a:r>
            <a:r>
              <a:rPr lang="zh-CN" altLang="en-US" sz="2000" b="1" dirty="0">
                <a:latin typeface="Kaiti SC" panose="02010600040101010101" pitchFamily="2" charset="-122"/>
                <a:ea typeface="Kaiti SC" panose="02010600040101010101" pitchFamily="2" charset="-122"/>
                <a:cs typeface="Calibri" panose="020F0502020204030204" pitchFamily="34" charset="0"/>
              </a:rPr>
              <a:t> 临床资料采集</a:t>
            </a:r>
            <a:endParaRPr lang="en-US" altLang="zh-CN" sz="2000" b="1" dirty="0">
              <a:latin typeface="Kaiti SC" panose="02010600040101010101" pitchFamily="2" charset="-122"/>
              <a:ea typeface="Kaiti SC" panose="02010600040101010101" pitchFamily="2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latin typeface="Kaiti SC" panose="02010600040101010101" pitchFamily="2" charset="-122"/>
                <a:ea typeface="Kaiti SC" panose="02010600040101010101" pitchFamily="2" charset="-122"/>
                <a:cs typeface="Calibri" panose="020F0502020204030204" pitchFamily="34" charset="0"/>
              </a:rPr>
              <a:t>MDD</a:t>
            </a:r>
            <a:r>
              <a:rPr lang="zh-CN" altLang="en-US" dirty="0">
                <a:latin typeface="Kaiti SC" panose="02010600040101010101" pitchFamily="2" charset="-122"/>
                <a:ea typeface="Kaiti SC" panose="02010600040101010101" pitchFamily="2" charset="-122"/>
                <a:cs typeface="Calibri" panose="020F0502020204030204" pitchFamily="34" charset="0"/>
              </a:rPr>
              <a:t>患者临床症状评测：</a:t>
            </a:r>
            <a:endParaRPr lang="en-US" altLang="zh-CN" dirty="0">
              <a:latin typeface="Kaiti SC" panose="02010600040101010101" pitchFamily="2" charset="-122"/>
              <a:ea typeface="Kaiti SC" panose="02010600040101010101" pitchFamily="2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zh-CN" dirty="0">
                <a:ea typeface="Kaiti SC" panose="02010600040101010101" pitchFamily="2" charset="-122"/>
                <a:cs typeface="Calibri" panose="020F0502020204030204" pitchFamily="34" charset="0"/>
              </a:rPr>
              <a:t>汉密尔顿抑郁量表（</a:t>
            </a:r>
            <a:r>
              <a:rPr lang="en-US" altLang="zh-CN" dirty="0">
                <a:ea typeface="Kaiti SC" panose="02010600040101010101" pitchFamily="2" charset="-122"/>
                <a:cs typeface="Calibri" panose="020F0502020204030204" pitchFamily="34" charset="0"/>
              </a:rPr>
              <a:t>Hamilton Depression Scale</a:t>
            </a:r>
            <a:r>
              <a:rPr lang="zh-CN" altLang="zh-CN" dirty="0">
                <a:ea typeface="Kaiti SC" panose="02010600040101010101" pitchFamily="2" charset="-122"/>
                <a:cs typeface="Calibri" panose="020F0502020204030204" pitchFamily="34" charset="0"/>
              </a:rPr>
              <a:t>，</a:t>
            </a:r>
            <a:r>
              <a:rPr lang="en-US" altLang="zh-CN" dirty="0">
                <a:ea typeface="Kaiti SC" panose="02010600040101010101" pitchFamily="2" charset="-122"/>
                <a:cs typeface="Calibri" panose="020F0502020204030204" pitchFamily="34" charset="0"/>
              </a:rPr>
              <a:t>HAMD</a:t>
            </a:r>
            <a:r>
              <a:rPr lang="zh-CN" altLang="zh-CN" dirty="0">
                <a:ea typeface="Kaiti SC" panose="02010600040101010101" pitchFamily="2" charset="-122"/>
                <a:cs typeface="Calibri" panose="020F0502020204030204" pitchFamily="34" charset="0"/>
              </a:rPr>
              <a:t>）</a:t>
            </a:r>
            <a:r>
              <a:rPr lang="zh-CN" altLang="en-US" dirty="0">
                <a:ea typeface="Kaiti SC" panose="02010600040101010101" pitchFamily="2" charset="-122"/>
                <a:cs typeface="Calibri" panose="020F0502020204030204" pitchFamily="34" charset="0"/>
              </a:rPr>
              <a:t>评价抑郁程度。</a:t>
            </a:r>
            <a:endParaRPr lang="en-US" altLang="zh-CN" dirty="0">
              <a:ea typeface="Kaiti SC" panose="02010600040101010101" pitchFamily="2" charset="-122"/>
              <a:cs typeface="Calibri" panose="020F0502020204030204" pitchFamily="34" charset="0"/>
            </a:endParaRPr>
          </a:p>
          <a:p>
            <a:r>
              <a:rPr lang="zh-CN" altLang="zh-CN" dirty="0">
                <a:ea typeface="Kaiti SC" panose="02010600040101010101" pitchFamily="2" charset="-122"/>
                <a:cs typeface="Calibri" panose="020F0502020204030204" pitchFamily="34" charset="0"/>
              </a:rPr>
              <a:t>汉密尔顿焦虑量表（</a:t>
            </a:r>
            <a:r>
              <a:rPr lang="en-US" altLang="zh-CN" dirty="0">
                <a:ea typeface="Kaiti SC" panose="02010600040101010101" pitchFamily="2" charset="-122"/>
                <a:cs typeface="Calibri" panose="020F0502020204030204" pitchFamily="34" charset="0"/>
              </a:rPr>
              <a:t>Hamilton Anxiety Scale</a:t>
            </a:r>
            <a:r>
              <a:rPr lang="zh-CN" altLang="zh-CN" dirty="0">
                <a:ea typeface="Kaiti SC" panose="02010600040101010101" pitchFamily="2" charset="-122"/>
                <a:cs typeface="Calibri" panose="020F0502020204030204" pitchFamily="34" charset="0"/>
              </a:rPr>
              <a:t>，</a:t>
            </a:r>
            <a:r>
              <a:rPr lang="en-US" altLang="zh-CN" dirty="0">
                <a:ea typeface="Kaiti SC" panose="02010600040101010101" pitchFamily="2" charset="-122"/>
                <a:cs typeface="Calibri" panose="020F0502020204030204" pitchFamily="34" charset="0"/>
              </a:rPr>
              <a:t>HAMA</a:t>
            </a:r>
            <a:r>
              <a:rPr lang="zh-CN" altLang="zh-CN" dirty="0">
                <a:ea typeface="Kaiti SC" panose="02010600040101010101" pitchFamily="2" charset="-122"/>
                <a:cs typeface="Calibri" panose="020F0502020204030204" pitchFamily="34" charset="0"/>
              </a:rPr>
              <a:t>）</a:t>
            </a:r>
            <a:r>
              <a:rPr lang="zh-CN" altLang="en-US" dirty="0">
                <a:ea typeface="Kaiti SC" panose="02010600040101010101" pitchFamily="2" charset="-122"/>
                <a:cs typeface="Calibri" panose="020F0502020204030204" pitchFamily="34" charset="0"/>
              </a:rPr>
              <a:t>评价焦虑程度。</a:t>
            </a:r>
            <a:endParaRPr lang="en-US" altLang="zh-CN" dirty="0">
              <a:ea typeface="Kaiti SC" panose="02010600040101010101" pitchFamily="2" charset="-122"/>
              <a:cs typeface="Calibri" panose="020F0502020204030204" pitchFamily="34" charset="0"/>
            </a:endParaRPr>
          </a:p>
          <a:p>
            <a:endParaRPr lang="zh-CN" altLang="zh-CN" dirty="0"/>
          </a:p>
          <a:p>
            <a:br>
              <a:rPr lang="zh-CN" altLang="zh-CN" dirty="0"/>
            </a:br>
            <a:endParaRPr lang="en-US" altLang="zh-CN" dirty="0">
              <a:ea typeface="Kaiti SC" panose="02010600040101010101" pitchFamily="2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endParaRPr lang="en-US" altLang="zh-CN" dirty="0">
              <a:ea typeface="Kaiti SC" panose="0201060004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9" name="TextBox 1">
            <a:extLst>
              <a:ext uri="{FF2B5EF4-FFF2-40B4-BE49-F238E27FC236}">
                <a16:creationId xmlns:a16="http://schemas.microsoft.com/office/drawing/2014/main" id="{A08FD66E-1639-B94D-9897-2BCA855865F0}"/>
              </a:ext>
            </a:extLst>
          </p:cNvPr>
          <p:cNvSpPr txBox="1"/>
          <p:nvPr/>
        </p:nvSpPr>
        <p:spPr>
          <a:xfrm>
            <a:off x="477934" y="3234364"/>
            <a:ext cx="7632848" cy="2432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3.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 影像数据采集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Kaiti SC" panose="02010600040101010101" pitchFamily="2" charset="-122"/>
              <a:cs typeface="Calibri" panose="020F0502020204030204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GE Discovery MR750 3.0T 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磁共振成像仪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高分辨率 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3D BRAVO 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序列 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(T1-weighted)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重复时间 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(TR)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：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8.2 </a:t>
            </a:r>
            <a:r>
              <a:rPr lang="en-US" altLang="zh-CN" dirty="0" err="1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ms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; 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回波时间 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(TE)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：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3.2 </a:t>
            </a:r>
            <a:r>
              <a:rPr lang="en-US" altLang="zh-CN" dirty="0" err="1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ms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; 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反转时间 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(TI)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：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450 </a:t>
            </a:r>
            <a:r>
              <a:rPr lang="en-US" altLang="zh-CN" dirty="0" err="1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ms</a:t>
            </a:r>
            <a:endParaRPr lang="en-US" altLang="zh-CN" dirty="0">
              <a:latin typeface="Calibri" panose="020F0502020204030204" pitchFamily="34" charset="0"/>
              <a:ea typeface="Kaiti SC" panose="02010600040101010101" pitchFamily="2" charset="-122"/>
              <a:cs typeface="Calibri" panose="020F050202020403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翻转角 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(Flip Angle)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：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12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度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; 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视野 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(FOV)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：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256 x 256 mm; 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矩阵 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(Matrix)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：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256 x 256; 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层厚 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(Slice Thickness)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：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1.0 mm (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无间距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); 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空间分辨率 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(Voxel Size)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：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1.0 x 1.0 x 1.0 mm3 (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各向同性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); 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扫描层数 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(Slices)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：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188 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层</a:t>
            </a:r>
            <a:endParaRPr kumimoji="0" lang="zh-CN" altLang="zh-CN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Kaiti SC" panose="02010600040101010101" pitchFamily="2" charset="-122"/>
              <a:cs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22691B0-7993-BACE-1979-2C251F37F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82" y="1748067"/>
            <a:ext cx="3963458" cy="29725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A61CD62-C9C1-0E1D-95A6-1686ED424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564" y="991191"/>
            <a:ext cx="5825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dirty="0">
                <a:solidFill>
                  <a:schemeClr val="bg1">
                    <a:lumMod val="10000"/>
                    <a:lumOff val="9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</a:p>
        </p:txBody>
      </p:sp>
    </p:spTree>
    <p:extLst>
      <p:ext uri="{BB962C8B-B14F-4D97-AF65-F5344CB8AC3E}">
        <p14:creationId xmlns:p14="http://schemas.microsoft.com/office/powerpoint/2010/main" val="2387455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DC795C7-7127-CF88-EEC5-26B6DC3CA390}"/>
              </a:ext>
            </a:extLst>
          </p:cNvPr>
          <p:cNvSpPr txBox="1"/>
          <p:nvPr/>
        </p:nvSpPr>
        <p:spPr>
          <a:xfrm>
            <a:off x="710850" y="1296543"/>
            <a:ext cx="9510387" cy="5314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</a:pPr>
            <a:r>
              <a:rPr lang="zh-CN" altLang="zh-CN" sz="2800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临床随访与疗效界定</a:t>
            </a:r>
            <a:endParaRPr lang="zh-CN" altLang="zh-CN" dirty="0">
              <a:latin typeface="Calibri" panose="020F0502020204030204" pitchFamily="34" charset="0"/>
              <a:ea typeface="Kaiti SC" panose="02010600040101010101" pitchFamily="2" charset="-122"/>
              <a:cs typeface="Calibri" panose="020F0502020204030204" pitchFamily="34" charset="0"/>
            </a:endParaRP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基线评估：HAMD-17 评分（ 分），完成 3T MRI 扫描。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标准化治疗：接受为期 6 周 的标准化抗抑郁药物治疗。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疗效评估指标：HAMD 减分率（Reduction Rate Score, RRS）</a:t>
            </a:r>
            <a:br>
              <a:rPr lang="zh-CN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</a:br>
            <a:endParaRPr lang="en-US" altLang="zh-CN" dirty="0">
              <a:latin typeface="Calibri" panose="020F0502020204030204" pitchFamily="34" charset="0"/>
              <a:ea typeface="Kaiti SC" panose="02010600040101010101" pitchFamily="2" charset="-122"/>
              <a:cs typeface="Calibri" panose="020F0502020204030204" pitchFamily="34" charset="0"/>
            </a:endParaRPr>
          </a:p>
          <a:p>
            <a:pPr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endParaRPr lang="en-US" altLang="zh-CN" dirty="0">
              <a:latin typeface="Calibri" panose="020F0502020204030204" pitchFamily="34" charset="0"/>
              <a:ea typeface="Kaiti SC" panose="02010600040101010101" pitchFamily="2" charset="-122"/>
              <a:cs typeface="Calibri" panose="020F0502020204030204" pitchFamily="34" charset="0"/>
            </a:endParaRPr>
          </a:p>
          <a:p>
            <a:pPr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endParaRPr lang="en-US" altLang="zh-CN" dirty="0">
              <a:latin typeface="Calibri" panose="020F0502020204030204" pitchFamily="34" charset="0"/>
              <a:ea typeface="Kaiti SC" panose="02010600040101010101" pitchFamily="2" charset="-122"/>
              <a:cs typeface="Calibri" panose="020F0502020204030204" pitchFamily="34" charset="0"/>
            </a:endParaRPr>
          </a:p>
          <a:p>
            <a:pPr algn="l">
              <a:spcBef>
                <a:spcPts val="750"/>
              </a:spcBef>
              <a:spcAft>
                <a:spcPts val="750"/>
              </a:spcAft>
            </a:pPr>
            <a:r>
              <a:rPr lang="zh-CN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临床分组：</a:t>
            </a:r>
          </a:p>
          <a:p>
            <a:pPr marL="742950" lvl="1" indent="-28575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应答者 (Responders, RES)：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RRS 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≥ 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50%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， 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38</a:t>
            </a:r>
            <a:r>
              <a:rPr lang="zh-CN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   例</a:t>
            </a:r>
          </a:p>
          <a:p>
            <a:pPr marL="742950" lvl="1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非应答者 (Non-responders, NRES)：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RRS 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＜ 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50%</a:t>
            </a:r>
            <a:r>
              <a:rPr lang="zh-CN" altLang="en-US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， </a:t>
            </a:r>
            <a:r>
              <a:rPr lang="en-US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18</a:t>
            </a:r>
            <a:r>
              <a:rPr lang="zh-CN" altLang="zh-CN" dirty="0">
                <a:latin typeface="Calibri" panose="020F0502020204030204" pitchFamily="34" charset="0"/>
                <a:ea typeface="Kaiti SC" panose="02010600040101010101" pitchFamily="2" charset="-122"/>
                <a:cs typeface="Calibri" panose="020F0502020204030204" pitchFamily="34" charset="0"/>
              </a:rPr>
              <a:t>   例</a:t>
            </a:r>
          </a:p>
          <a:p>
            <a:pPr>
              <a:buNone/>
            </a:pPr>
            <a:br>
              <a:rPr lang="zh-CN" altLang="zh-CN" dirty="0"/>
            </a:b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5972D4-A4F1-F14F-9793-EACCD1FE3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68" y="3429000"/>
            <a:ext cx="5754663" cy="93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614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CA13FA4-831A-565E-7E05-E866C0562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43" y="1012038"/>
            <a:ext cx="7636785" cy="5615878"/>
          </a:xfrm>
          <a:prstGeom prst="rect">
            <a:avLst/>
          </a:prstGeom>
        </p:spPr>
      </p:pic>
      <p:sp>
        <p:nvSpPr>
          <p:cNvPr id="3" name="箭头: 右 2">
            <a:extLst>
              <a:ext uri="{FF2B5EF4-FFF2-40B4-BE49-F238E27FC236}">
                <a16:creationId xmlns:a16="http://schemas.microsoft.com/office/drawing/2014/main" id="{AA69D162-8357-27AE-3720-C35C4859D6CF}"/>
              </a:ext>
            </a:extLst>
          </p:cNvPr>
          <p:cNvSpPr/>
          <p:nvPr/>
        </p:nvSpPr>
        <p:spPr>
          <a:xfrm>
            <a:off x="7682984" y="4511549"/>
            <a:ext cx="580736" cy="9134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EDD6FD-767D-2552-749D-07BB878F0F11}"/>
              </a:ext>
            </a:extLst>
          </p:cNvPr>
          <p:cNvSpPr txBox="1"/>
          <p:nvPr/>
        </p:nvSpPr>
        <p:spPr>
          <a:xfrm>
            <a:off x="8351273" y="2756979"/>
            <a:ext cx="3610284" cy="364439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组间差异：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治疗有效组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治疗无效组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相关：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Features ~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减分率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AUC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TabPFN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AUC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传统方法计算</a:t>
            </a:r>
          </a:p>
        </p:txBody>
      </p:sp>
    </p:spTree>
    <p:extLst>
      <p:ext uri="{BB962C8B-B14F-4D97-AF65-F5344CB8AC3E}">
        <p14:creationId xmlns:p14="http://schemas.microsoft.com/office/powerpoint/2010/main" val="3321876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063BCD4-EF43-BC38-9123-6567CFDA0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642" y="5988732"/>
            <a:ext cx="6402098" cy="61489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92F2848-1012-26F1-53C0-9FC13953F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05190"/>
            <a:ext cx="7247939" cy="403847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545CA22-90C0-C37B-CD75-2BDFB76E12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041" y="1950256"/>
            <a:ext cx="4727311" cy="374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022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5E9FCBE-DEEA-E7D8-4550-171C08579A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26" y="1176477"/>
            <a:ext cx="10559443" cy="5505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8245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ACC8D4C-05A0-B9C4-B7C2-33B14933A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788" y="1012824"/>
            <a:ext cx="10110305" cy="575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12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C27D1BA-10A7-B91D-7CA5-61F39420083D}"/>
              </a:ext>
            </a:extLst>
          </p:cNvPr>
          <p:cNvSpPr txBox="1"/>
          <p:nvPr/>
        </p:nvSpPr>
        <p:spPr>
          <a:xfrm>
            <a:off x="1202498" y="1550839"/>
            <a:ext cx="8968635" cy="16312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zh-CN" sz="2800" b="0" i="0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💡 大道至简 (Less is More)</a:t>
            </a:r>
            <a:endParaRPr lang="en-US" altLang="zh-CN" sz="2800" b="0" i="0" dirty="0">
              <a:solidFill>
                <a:srgbClr val="22222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核心标志物：左侧后部海马（Body/Tail）及海马整体的宏观体积。</a:t>
            </a:r>
          </a:p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预测效能：在常规 3D-T1 影像下，实现最稳健的疗效预测（AUC ≈ 0.72）。</a:t>
            </a:r>
          </a:p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临床启示：无需繁琐的微观分割，宏观指标已足够支撑临床决策。</a:t>
            </a: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25B973-5E8C-6E9C-A645-EDCEECBC8C4D}"/>
              </a:ext>
            </a:extLst>
          </p:cNvPr>
          <p:cNvSpPr txBox="1"/>
          <p:nvPr/>
        </p:nvSpPr>
        <p:spPr>
          <a:xfrm>
            <a:off x="8849637" y="1258451"/>
            <a:ext cx="1954061" cy="584775"/>
          </a:xfrm>
          <a:prstGeom prst="rect">
            <a:avLst/>
          </a:prstGeom>
          <a:solidFill>
            <a:schemeClr val="bg1"/>
          </a:solidFill>
          <a:ln>
            <a:solidFill>
              <a:srgbClr val="00616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临床结论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2E125C-65D4-2E5A-3360-3BCB442698E6}"/>
              </a:ext>
            </a:extLst>
          </p:cNvPr>
          <p:cNvSpPr txBox="1"/>
          <p:nvPr/>
        </p:nvSpPr>
        <p:spPr>
          <a:xfrm>
            <a:off x="1202497" y="4202824"/>
            <a:ext cx="8968635" cy="135421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🧠 破除“越细越好”的迷思 </a:t>
            </a:r>
            <a:r>
              <a:rPr lang="en-US" altLang="zh-CN" sz="2800" b="0" i="0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(Rethinking Micro-scale)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信息冗余：数学降维（PCA）证实微观亚区之间存在极高的共线性。</a:t>
            </a:r>
          </a:p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无增量价值：微观分割并未提供额外的临床预测信息。</a:t>
            </a:r>
          </a:p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噪声干扰：在常规分辨率下，强行进行微观分割反而会引入更多测量噪声。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53E4D76-44C0-B423-71DF-F7526EB3ED8B}"/>
              </a:ext>
            </a:extLst>
          </p:cNvPr>
          <p:cNvSpPr txBox="1"/>
          <p:nvPr/>
        </p:nvSpPr>
        <p:spPr>
          <a:xfrm>
            <a:off x="8688886" y="3675946"/>
            <a:ext cx="2964492" cy="584775"/>
          </a:xfrm>
          <a:prstGeom prst="rect">
            <a:avLst/>
          </a:prstGeom>
          <a:solidFill>
            <a:schemeClr val="bg1"/>
          </a:solidFill>
          <a:ln>
            <a:solidFill>
              <a:srgbClr val="00616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方法学反思</a:t>
            </a:r>
          </a:p>
        </p:txBody>
      </p:sp>
    </p:spTree>
    <p:extLst>
      <p:ext uri="{BB962C8B-B14F-4D97-AF65-F5344CB8AC3E}">
        <p14:creationId xmlns:p14="http://schemas.microsoft.com/office/powerpoint/2010/main" val="2562013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1">
            <a:extLst>
              <a:ext uri="{FF2B5EF4-FFF2-40B4-BE49-F238E27FC236}">
                <a16:creationId xmlns:a16="http://schemas.microsoft.com/office/drawing/2014/main" id="{3F2A6426-56AC-AE97-3299-593513374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156" y="1034869"/>
            <a:ext cx="2614295" cy="835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http://www.hmrrc.org.cn…">
            <a:extLst>
              <a:ext uri="{FF2B5EF4-FFF2-40B4-BE49-F238E27FC236}">
                <a16:creationId xmlns:a16="http://schemas.microsoft.com/office/drawing/2014/main" id="{80961C4A-7438-4FC2-4555-C4FEBECBE8FA}"/>
              </a:ext>
            </a:extLst>
          </p:cNvPr>
          <p:cNvSpPr txBox="1"/>
          <p:nvPr/>
        </p:nvSpPr>
        <p:spPr>
          <a:xfrm>
            <a:off x="706637" y="2932546"/>
            <a:ext cx="5647107" cy="41892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miter lim="400000"/>
          </a:ln>
        </p:spPr>
        <p:txBody>
          <a:bodyPr wrap="square" lIns="32176" tIns="32176" rIns="32176" bIns="32176" anchor="ctr">
            <a:spAutoFit/>
          </a:bodyPr>
          <a:lstStyle/>
          <a:p>
            <a:pPr algn="l" defTabSz="455295">
              <a:defRPr sz="2300" b="1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Email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en-US" altLang="zh-CN" u="sng" dirty="0">
                <a:solidFill>
                  <a:srgbClr val="C00000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zhanglianqing1993@qq.com</a:t>
            </a:r>
            <a:endParaRPr u="sng" dirty="0">
              <a:solidFill>
                <a:srgbClr val="C00000"/>
              </a:solidFill>
              <a:uFill>
                <a:solidFill>
                  <a:srgbClr val="0000FF"/>
                </a:solidFill>
              </a:uFill>
              <a:hlinkClick r:id="rId3"/>
            </a:endParaRPr>
          </a:p>
        </p:txBody>
      </p:sp>
      <p:pic>
        <p:nvPicPr>
          <p:cNvPr id="6" name="图片 5" descr="QR 代码&#10;&#10;描述已自动生成">
            <a:extLst>
              <a:ext uri="{FF2B5EF4-FFF2-40B4-BE49-F238E27FC236}">
                <a16:creationId xmlns:a16="http://schemas.microsoft.com/office/drawing/2014/main" id="{71E63B82-83A1-D3BD-49F0-BD57996B66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879" y="1870529"/>
            <a:ext cx="3529771" cy="478195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A364303-EA00-F26A-5224-0439817EC03D}"/>
              </a:ext>
            </a:extLst>
          </p:cNvPr>
          <p:cNvSpPr txBox="1"/>
          <p:nvPr/>
        </p:nvSpPr>
        <p:spPr>
          <a:xfrm>
            <a:off x="-1291551" y="1547999"/>
            <a:ext cx="780224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800" dirty="0">
                <a:solidFill>
                  <a:srgbClr val="A63031"/>
                </a:solidFill>
                <a:latin typeface="+mj-ea"/>
                <a:ea typeface="+mj-ea"/>
              </a:rPr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1512596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3123</Words>
  <Application>Microsoft Office PowerPoint</Application>
  <PresentationFormat>宽屏</PresentationFormat>
  <Paragraphs>163</Paragraphs>
  <Slides>16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Kaiti SC</vt:lpstr>
      <vt:lpstr>等线</vt:lpstr>
      <vt:lpstr>等线 Light</vt:lpstr>
      <vt:lpstr>华文楷体</vt:lpstr>
      <vt:lpstr>华文中宋</vt:lpstr>
      <vt:lpstr>思源黑体 CN Medium</vt:lpstr>
      <vt:lpstr>思源宋体</vt:lpstr>
      <vt:lpstr>宋体</vt:lpstr>
      <vt:lpstr>微软雅黑</vt:lpstr>
      <vt:lpstr>Arial</vt:lpstr>
      <vt:lpstr>Calibri</vt:lpstr>
      <vt:lpstr>Wingdings</vt:lpstr>
      <vt:lpstr>Office 主题​​</vt:lpstr>
      <vt:lpstr>PowerPoint 演示文稿</vt:lpstr>
      <vt:lpstr> </vt:lpstr>
      <vt:lpstr>抗抑郁治疗的试错困境与时间成本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ZXP</dc:creator>
  <cp:lastModifiedBy>Lianqing Zhang</cp:lastModifiedBy>
  <cp:revision>8</cp:revision>
  <dcterms:created xsi:type="dcterms:W3CDTF">2026-04-27T09:33:14Z</dcterms:created>
  <dcterms:modified xsi:type="dcterms:W3CDTF">2026-05-28T13:57:12Z</dcterms:modified>
</cp:coreProperties>
</file>